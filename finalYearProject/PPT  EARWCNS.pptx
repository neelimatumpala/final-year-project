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6" r:id="rId1"/>
  </p:sldMasterIdLst>
  <p:notesMasterIdLst>
    <p:notesMasterId r:id="rId25"/>
  </p:notesMasterIdLst>
  <p:handoutMasterIdLst>
    <p:handoutMasterId r:id="rId26"/>
  </p:handoutMasterIdLst>
  <p:sldIdLst>
    <p:sldId id="288" r:id="rId2"/>
    <p:sldId id="290" r:id="rId3"/>
    <p:sldId id="299" r:id="rId4"/>
    <p:sldId id="258" r:id="rId5"/>
    <p:sldId id="311" r:id="rId6"/>
    <p:sldId id="298" r:id="rId7"/>
    <p:sldId id="260" r:id="rId8"/>
    <p:sldId id="297" r:id="rId9"/>
    <p:sldId id="291" r:id="rId10"/>
    <p:sldId id="300" r:id="rId11"/>
    <p:sldId id="301" r:id="rId12"/>
    <p:sldId id="302" r:id="rId13"/>
    <p:sldId id="303" r:id="rId14"/>
    <p:sldId id="308" r:id="rId15"/>
    <p:sldId id="296" r:id="rId16"/>
    <p:sldId id="309" r:id="rId17"/>
    <p:sldId id="310" r:id="rId18"/>
    <p:sldId id="292" r:id="rId19"/>
    <p:sldId id="304" r:id="rId20"/>
    <p:sldId id="305" r:id="rId21"/>
    <p:sldId id="293" r:id="rId22"/>
    <p:sldId id="306" r:id="rId23"/>
    <p:sldId id="30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24" autoAdjust="0"/>
    <p:restoredTop sz="94660"/>
  </p:normalViewPr>
  <p:slideViewPr>
    <p:cSldViewPr snapToGrid="0">
      <p:cViewPr varScale="1">
        <p:scale>
          <a:sx n="67" d="100"/>
          <a:sy n="67" d="100"/>
        </p:scale>
        <p:origin x="688"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D134D7A-C1AD-4D4E-80C3-61E91B21D93D}" type="datetimeFigureOut">
              <a:rPr lang="en-IN" smtClean="0"/>
              <a:pPr/>
              <a:t>26-05-2022</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IN"/>
              <a:t>1</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4A4BE4-D635-4878-B755-501A54579773}"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EFBD95-4A67-4739-8BCB-367C2525FE92}" type="datetimeFigureOut">
              <a:rPr lang="en-IN" smtClean="0"/>
              <a:pPr/>
              <a:t>26-05-2022</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IN"/>
              <a:t>1</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2C21F6-7D1D-431C-81DD-62B8F357E2DA}" type="slidenum">
              <a:rPr lang="en-IN" smtClean="0"/>
              <a:pPr/>
              <a:t>‹#›</a:t>
            </a:fld>
            <a:endParaRPr lang="en-IN"/>
          </a:p>
        </p:txBody>
      </p:sp>
    </p:spTree>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31EFBD95-4A67-4739-8BCB-367C2525FE92}" type="datetimeFigureOut">
              <a:rPr lang="en-IN" smtClean="0"/>
              <a:pPr/>
              <a:t>26-05-2022</a:t>
            </a:fld>
            <a:endParaRPr lang="en-IN"/>
          </a:p>
        </p:txBody>
      </p:sp>
      <p:sp>
        <p:nvSpPr>
          <p:cNvPr id="5" name="Slide Number Placeholder 4"/>
          <p:cNvSpPr>
            <a:spLocks noGrp="1"/>
          </p:cNvSpPr>
          <p:nvPr>
            <p:ph type="sldNum" sz="quarter" idx="11"/>
          </p:nvPr>
        </p:nvSpPr>
        <p:spPr/>
        <p:txBody>
          <a:bodyPr/>
          <a:lstStyle/>
          <a:p>
            <a:fld id="{912C21F6-7D1D-431C-81DD-62B8F357E2DA}" type="slidenum">
              <a:rPr lang="en-IN" smtClean="0"/>
              <a:pPr/>
              <a:t>1</a:t>
            </a:fld>
            <a:endParaRPr lang="en-IN"/>
          </a:p>
        </p:txBody>
      </p:sp>
      <p:sp>
        <p:nvSpPr>
          <p:cNvPr id="6" name="Footer Placeholder 5"/>
          <p:cNvSpPr>
            <a:spLocks noGrp="1"/>
          </p:cNvSpPr>
          <p:nvPr>
            <p:ph type="ftr" sz="quarter" idx="12"/>
          </p:nvPr>
        </p:nvSpPr>
        <p:spPr/>
        <p:txBody>
          <a:bodyPr/>
          <a:lstStyle/>
          <a:p>
            <a:r>
              <a:rPr lang="en-IN"/>
              <a:t>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912C21F6-7D1D-431C-81DD-62B8F357E2DA}" type="slidenum">
              <a:rPr lang="en-IN" smtClean="0"/>
              <a:pPr/>
              <a:t>2</a:t>
            </a:fld>
            <a:endParaRPr lang="en-IN"/>
          </a:p>
        </p:txBody>
      </p:sp>
      <p:sp>
        <p:nvSpPr>
          <p:cNvPr id="5" name="Date Placeholder 4"/>
          <p:cNvSpPr>
            <a:spLocks noGrp="1"/>
          </p:cNvSpPr>
          <p:nvPr>
            <p:ph type="dt" idx="11"/>
          </p:nvPr>
        </p:nvSpPr>
        <p:spPr/>
        <p:txBody>
          <a:bodyPr/>
          <a:lstStyle/>
          <a:p>
            <a:fld id="{74EC93AA-C315-48FD-AE7F-56520DBF2DCE}" type="datetime1">
              <a:rPr lang="en-IN" smtClean="0"/>
              <a:pPr/>
              <a:t>26-05-2022</a:t>
            </a:fld>
            <a:endParaRPr lang="en-IN"/>
          </a:p>
        </p:txBody>
      </p:sp>
      <p:sp>
        <p:nvSpPr>
          <p:cNvPr id="6" name="Footer Placeholder 5"/>
          <p:cNvSpPr>
            <a:spLocks noGrp="1"/>
          </p:cNvSpPr>
          <p:nvPr>
            <p:ph type="ftr" sz="quarter" idx="12"/>
          </p:nvPr>
        </p:nvSpPr>
        <p:spPr/>
        <p:txBody>
          <a:bodyPr/>
          <a:lstStyle/>
          <a:p>
            <a:r>
              <a:rPr lang="en-IN"/>
              <a:t>1</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581A751-7066-48F1-AD55-FE6573D3DDA8}" type="datetime1">
              <a:rPr lang="en-IN" smtClean="0"/>
              <a:pPr/>
              <a:t>26-05-2022</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IN"/>
              <a:t>Dept. of  EEE, ACOE</a:t>
            </a:r>
          </a:p>
        </p:txBody>
      </p:sp>
      <p:sp>
        <p:nvSpPr>
          <p:cNvPr id="11" name="Rectangle 10"/>
          <p:cNvSpPr/>
          <p:nvPr/>
        </p:nvSpPr>
        <p:spPr>
          <a:xfrm>
            <a:off x="11009311"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4689494" y="6090313"/>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593138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endParaRPr lang="en-IN" dirty="0"/>
          </a:p>
        </p:txBody>
      </p:sp>
      <p:pic>
        <p:nvPicPr>
          <p:cNvPr id="7" name="Picture 6" descr="C:\Users\Internet\Desktop\aditya (2).png"/>
          <p:cNvPicPr>
            <a:picLocks noChangeAspect="1" noChangeArrowheads="1"/>
          </p:cNvPicPr>
          <p:nvPr userDrawn="1"/>
        </p:nvPicPr>
        <p:blipFill>
          <a:blip r:embed="rId2" cstate="print"/>
          <a:srcRect/>
          <a:stretch>
            <a:fillRect/>
          </a:stretch>
        </p:blipFill>
        <p:spPr bwMode="auto">
          <a:xfrm>
            <a:off x="9793492" y="444138"/>
            <a:ext cx="1950015" cy="1157206"/>
          </a:xfrm>
          <a:prstGeom prst="rect">
            <a:avLst/>
          </a:prstGeom>
          <a:noFill/>
        </p:spPr>
      </p:pic>
    </p:spTree>
    <p:extLst>
      <p:ext uri="{BB962C8B-B14F-4D97-AF65-F5344CB8AC3E}">
        <p14:creationId xmlns:p14="http://schemas.microsoft.com/office/powerpoint/2010/main" val="66210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8E476D7-0381-44B8-AD98-F517A7D11F36}" type="datetime1">
              <a:rPr lang="en-IN" smtClean="0"/>
              <a:pPr/>
              <a:t>26-05-2022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4063079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89EB8688-18FA-4499-B768-6BD3D7300446}" type="datetime1">
              <a:rPr lang="en-IN" smtClean="0"/>
              <a:pPr/>
              <a:t>26-05-2022</a:t>
            </a:fld>
            <a:endParaRPr lang="en-IN"/>
          </a:p>
        </p:txBody>
      </p:sp>
      <p:sp>
        <p:nvSpPr>
          <p:cNvPr id="6" name="Footer Placeholder 5"/>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218141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FC1BBD-3098-4D1C-9388-BF872E92B290}" type="datetime1">
              <a:rPr lang="en-IN" smtClean="0"/>
              <a:pPr/>
              <a:t>26-05-2022</a:t>
            </a:fld>
            <a:endParaRPr lang="en-IN"/>
          </a:p>
        </p:txBody>
      </p:sp>
      <p:sp>
        <p:nvSpPr>
          <p:cNvPr id="8" name="Footer Placeholder 7"/>
          <p:cNvSpPr>
            <a:spLocks noGrp="1"/>
          </p:cNvSpPr>
          <p:nvPr>
            <p:ph type="ftr" sz="quarter" idx="11"/>
          </p:nvPr>
        </p:nvSpPr>
        <p:spPr/>
        <p:txBody>
          <a:bodyPr/>
          <a:lstStyle/>
          <a:p>
            <a:r>
              <a:rPr lang="en-IN"/>
              <a:t>Dept. of  EEE, ACOE</a:t>
            </a:r>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337763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E9D160-4F16-42A5-9DC0-454105F3CB7A}" type="datetime1">
              <a:rPr lang="en-IN" smtClean="0"/>
              <a:pPr/>
              <a:t>26-05-2022</a:t>
            </a:fld>
            <a:endParaRPr lang="en-IN"/>
          </a:p>
        </p:txBody>
      </p:sp>
      <p:sp>
        <p:nvSpPr>
          <p:cNvPr id="4" name="Footer Placeholder 3"/>
          <p:cNvSpPr>
            <a:spLocks noGrp="1"/>
          </p:cNvSpPr>
          <p:nvPr>
            <p:ph type="ftr" sz="quarter" idx="11"/>
          </p:nvPr>
        </p:nvSpPr>
        <p:spPr/>
        <p:txBody>
          <a:bodyPr/>
          <a:lstStyle/>
          <a:p>
            <a:r>
              <a:rPr lang="en-IN"/>
              <a:t>Dept. of  EEE, ACOE</a:t>
            </a:r>
          </a:p>
        </p:txBody>
      </p:sp>
      <p:sp>
        <p:nvSpPr>
          <p:cNvPr id="5" name="Slide Number Placeholder 4"/>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2190580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0981A6-C7C9-4CF5-8E9E-E1484998A822}" type="datetime1">
              <a:rPr lang="en-IN" smtClean="0"/>
              <a:pPr/>
              <a:t>26-05-2022</a:t>
            </a:fld>
            <a:endParaRPr lang="en-IN"/>
          </a:p>
        </p:txBody>
      </p:sp>
      <p:sp>
        <p:nvSpPr>
          <p:cNvPr id="3" name="Footer Placeholder 2"/>
          <p:cNvSpPr>
            <a:spLocks noGrp="1"/>
          </p:cNvSpPr>
          <p:nvPr>
            <p:ph type="ftr" sz="quarter" idx="11"/>
          </p:nvPr>
        </p:nvSpPr>
        <p:spPr/>
        <p:txBody>
          <a:bodyPr/>
          <a:lstStyle/>
          <a:p>
            <a:r>
              <a:rPr lang="en-IN"/>
              <a:t>Dept. of  EEE, ACOE</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831984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9024F9B-C4C5-4725-BCC0-A528D283569F}" type="datetime1">
              <a:rPr lang="en-IN" smtClean="0"/>
              <a:pPr/>
              <a:t>26-05-2022</a:t>
            </a:fld>
            <a:endParaRPr lang="en-IN"/>
          </a:p>
        </p:txBody>
      </p:sp>
      <p:sp>
        <p:nvSpPr>
          <p:cNvPr id="6" name="Footer Placeholder 5"/>
          <p:cNvSpPr>
            <a:spLocks noGrp="1"/>
          </p:cNvSpPr>
          <p:nvPr>
            <p:ph type="ftr" sz="quarter" idx="11"/>
          </p:nvPr>
        </p:nvSpPr>
        <p:spPr/>
        <p:txBody>
          <a:bodyPr/>
          <a:lstStyle/>
          <a:p>
            <a:r>
              <a:rPr lang="en-IN"/>
              <a:t>Dept. of  EEE, ACOE</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2319348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C384DD6-2FAF-4EBC-B34B-0631437CB250}" type="datetime1">
              <a:rPr lang="en-IN" smtClean="0"/>
              <a:pPr/>
              <a:t>26-05-2022</a:t>
            </a:fld>
            <a:endParaRPr lang="en-IN"/>
          </a:p>
        </p:txBody>
      </p:sp>
      <p:sp>
        <p:nvSpPr>
          <p:cNvPr id="6" name="Footer Placeholder 5"/>
          <p:cNvSpPr>
            <a:spLocks noGrp="1"/>
          </p:cNvSpPr>
          <p:nvPr>
            <p:ph type="ftr" sz="quarter" idx="11"/>
          </p:nvPr>
        </p:nvSpPr>
        <p:spPr/>
        <p:txBody>
          <a:bodyPr/>
          <a:lstStyle/>
          <a:p>
            <a:r>
              <a:rPr lang="en-IN"/>
              <a:t>Dept. of  EEE, ACOE</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2193667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C1AD55C-51BA-4D8D-9C4C-B46186631816}" type="datetime1">
              <a:rPr lang="en-IN" smtClean="0"/>
              <a:pPr/>
              <a:t>26-05-2022</a:t>
            </a:fld>
            <a:endParaRPr lang="en-IN"/>
          </a:p>
        </p:txBody>
      </p:sp>
      <p:sp>
        <p:nvSpPr>
          <p:cNvPr id="6" name="Footer Placeholder 5"/>
          <p:cNvSpPr>
            <a:spLocks noGrp="1"/>
          </p:cNvSpPr>
          <p:nvPr>
            <p:ph type="ftr" sz="quarter" idx="11"/>
          </p:nvPr>
        </p:nvSpPr>
        <p:spPr/>
        <p:txBody>
          <a:bodyPr/>
          <a:lstStyle/>
          <a:p>
            <a:r>
              <a:rPr lang="en-IN"/>
              <a:t>Dept. of  EEE, ACOE</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3999228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D615D802-66C7-4EC6-90D3-5B80BF330784}" type="datetime1">
              <a:rPr lang="en-IN" smtClean="0"/>
              <a:pPr/>
              <a:t>26-05-2022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38606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E9FDCF44-4D41-4B67-9F4E-EC945EFFF9E1}" type="datetime1">
              <a:rPr lang="en-IN" smtClean="0"/>
              <a:pPr/>
              <a:t>26-05-2022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071113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3DEE69F-5323-4E54-9588-FBEAF4DAEFF6}" type="datetime1">
              <a:rPr lang="en-IN" smtClean="0"/>
              <a:pPr/>
              <a:t>26-05-2022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964037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E5BF1A3-BF83-401D-AE27-1047617400A5}" type="datetime1">
              <a:rPr lang="en-IN" smtClean="0"/>
              <a:pPr/>
              <a:t>26-05-2022</a:t>
            </a:fld>
            <a:endParaRPr lang="en-IN"/>
          </a:p>
        </p:txBody>
      </p:sp>
      <p:sp>
        <p:nvSpPr>
          <p:cNvPr id="8" name="Footer Placeholder 7"/>
          <p:cNvSpPr>
            <a:spLocks noGrp="1"/>
          </p:cNvSpPr>
          <p:nvPr>
            <p:ph type="ftr" sz="quarter" idx="11"/>
          </p:nvPr>
        </p:nvSpPr>
        <p:spPr/>
        <p:txBody>
          <a:bodyPr/>
          <a:lstStyle/>
          <a:p>
            <a:r>
              <a:rPr lang="en-IN"/>
              <a:t>Dept. of  EEE, ACOE</a:t>
            </a:r>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3065392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5771B7F-9AAE-4344-AD25-019BB27C8FDE}" type="datetime1">
              <a:rPr lang="en-IN" smtClean="0"/>
              <a:pPr/>
              <a:t>26-05-2022</a:t>
            </a:fld>
            <a:endParaRPr lang="en-IN"/>
          </a:p>
        </p:txBody>
      </p:sp>
      <p:sp>
        <p:nvSpPr>
          <p:cNvPr id="8" name="Footer Placeholder 7"/>
          <p:cNvSpPr>
            <a:spLocks noGrp="1"/>
          </p:cNvSpPr>
          <p:nvPr>
            <p:ph type="ftr" sz="quarter" idx="11"/>
          </p:nvPr>
        </p:nvSpPr>
        <p:spPr>
          <a:xfrm>
            <a:off x="561111" y="6391838"/>
            <a:ext cx="3644282" cy="304801"/>
          </a:xfrm>
        </p:spPr>
        <p:txBody>
          <a:bodyPr/>
          <a:lstStyle/>
          <a:p>
            <a:r>
              <a:rPr lang="en-IN"/>
              <a:t>Dept. of  EEE, ACOE</a:t>
            </a:r>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42112258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56087B1-3F1A-42CB-8E36-2A3C631AA295}" type="datetime1">
              <a:rPr lang="en-IN" smtClean="0"/>
              <a:pPr/>
              <a:t>26-05-2022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10171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B11A063-E192-4C67-81EE-57641EA12D7C}" type="datetime1">
              <a:rPr lang="en-IN" smtClean="0"/>
              <a:pPr/>
              <a:t>26-05-2022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3867561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cstate="print"/>
          <a:srcRect/>
          <a:tile tx="0" ty="0" sx="100000" sy="100000" flip="none" algn="tl"/>
        </a:blipFill>
        <a:effectLst/>
      </p:bgPr>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0"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userDrawn="1"/>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3CB553C-3FEB-4D6D-BB87-37A325A681BC}" type="datetime1">
              <a:rPr lang="en-IN" smtClean="0"/>
              <a:pPr/>
              <a:t>26-05-2022</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IN"/>
              <a:t>Dept. of  EEE, ACOE</a:t>
            </a:r>
          </a:p>
        </p:txBody>
      </p:sp>
    </p:spTree>
    <p:extLst>
      <p:ext uri="{BB962C8B-B14F-4D97-AF65-F5344CB8AC3E}">
        <p14:creationId xmlns:p14="http://schemas.microsoft.com/office/powerpoint/2010/main" val="761891809"/>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 id="2147483850" r:id="rId14"/>
    <p:sldLayoutId id="2147483851" r:id="rId15"/>
    <p:sldLayoutId id="2147483852" r:id="rId16"/>
    <p:sldLayoutId id="2147483853" r:id="rId17"/>
  </p:sldLayoutIdLst>
  <p:hf sldNum="0" hdr="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Open-source" TargetMode="External"/><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hyperlink" Target="https://en.wikipedia.org/wiki/Microcontroller_board"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205" y="790788"/>
            <a:ext cx="8761413" cy="706964"/>
          </a:xfrm>
          <a:ln>
            <a:noFill/>
          </a:ln>
        </p:spPr>
        <p:txBody>
          <a:bodyPr>
            <a:noAutofit/>
          </a:bodyPr>
          <a:lstStyle/>
          <a:p>
            <a:pPr algn="ctr"/>
            <a:r>
              <a:rPr lang="en-US" sz="2800" b="1" dirty="0">
                <a:latin typeface="Times New Roman" pitchFamily="18" charset="0"/>
                <a:cs typeface="Times New Roman" pitchFamily="18" charset="0"/>
              </a:rPr>
              <a:t>ENHANCED AUTONOMOUS ROBOT WITH CENTRAL NAVIGATION SYSTEM</a:t>
            </a:r>
          </a:p>
        </p:txBody>
      </p:sp>
      <p:sp>
        <p:nvSpPr>
          <p:cNvPr id="3" name="Subtitle 2"/>
          <p:cNvSpPr>
            <a:spLocks noGrp="1"/>
          </p:cNvSpPr>
          <p:nvPr>
            <p:ph sz="half" idx="1"/>
          </p:nvPr>
        </p:nvSpPr>
        <p:spPr>
          <a:xfrm>
            <a:off x="3203900" y="4489773"/>
            <a:ext cx="4072110" cy="1140320"/>
          </a:xfrm>
          <a:ln w="28575">
            <a:solidFill>
              <a:schemeClr val="accent1"/>
            </a:solidFill>
          </a:ln>
        </p:spPr>
        <p:txBody>
          <a:bodyPr>
            <a:noAutofit/>
          </a:bodyPr>
          <a:lstStyle/>
          <a:p>
            <a:pPr algn="ctr">
              <a:spcBef>
                <a:spcPts val="0"/>
              </a:spcBef>
              <a:buNone/>
            </a:pPr>
            <a:r>
              <a:rPr lang="en-IN" b="1" dirty="0">
                <a:solidFill>
                  <a:schemeClr val="tx2"/>
                </a:solidFill>
                <a:latin typeface="Cambria Math" panose="02040503050406030204" pitchFamily="18" charset="0"/>
                <a:ea typeface="Cambria Math" panose="02040503050406030204" pitchFamily="18" charset="0"/>
              </a:rPr>
              <a:t>Under the guidance of</a:t>
            </a:r>
          </a:p>
          <a:p>
            <a:pPr algn="ctr">
              <a:spcBef>
                <a:spcPts val="0"/>
              </a:spcBef>
              <a:buNone/>
            </a:pPr>
            <a:r>
              <a:rPr lang="en-US" dirty="0">
                <a:latin typeface="Cambria Math" pitchFamily="18" charset="0"/>
                <a:ea typeface="Cambria Math" pitchFamily="18" charset="0"/>
                <a:cs typeface="Arial" pitchFamily="34" charset="0"/>
              </a:rPr>
              <a:t>K. Manoz Kumar Reddy (Ph.D)</a:t>
            </a:r>
          </a:p>
          <a:p>
            <a:pPr algn="ctr">
              <a:spcBef>
                <a:spcPts val="0"/>
              </a:spcBef>
              <a:buNone/>
            </a:pPr>
            <a:r>
              <a:rPr lang="en-US" dirty="0">
                <a:latin typeface="Cambria Math" pitchFamily="18" charset="0"/>
                <a:ea typeface="Cambria Math" pitchFamily="18" charset="0"/>
                <a:cs typeface="Arial" pitchFamily="34" charset="0"/>
              </a:rPr>
              <a:t>Associate professor</a:t>
            </a:r>
            <a:r>
              <a:rPr lang="en-IN" dirty="0">
                <a:latin typeface="Cambria Math" pitchFamily="18" charset="0"/>
                <a:ea typeface="Cambria Math" pitchFamily="18" charset="0"/>
                <a:cs typeface="Arial" pitchFamily="34" charset="0"/>
              </a:rPr>
              <a:t>.</a:t>
            </a:r>
          </a:p>
        </p:txBody>
      </p:sp>
      <p:sp>
        <p:nvSpPr>
          <p:cNvPr id="4" name="Content Placeholder 3"/>
          <p:cNvSpPr>
            <a:spLocks noGrp="1"/>
          </p:cNvSpPr>
          <p:nvPr>
            <p:ph sz="half" idx="2"/>
          </p:nvPr>
        </p:nvSpPr>
        <p:spPr>
          <a:xfrm>
            <a:off x="7746275" y="4114800"/>
            <a:ext cx="4275908" cy="2403565"/>
          </a:xfrm>
          <a:ln w="28575">
            <a:solidFill>
              <a:schemeClr val="accent1"/>
            </a:solidFill>
          </a:ln>
        </p:spPr>
        <p:txBody>
          <a:bodyPr>
            <a:noAutofit/>
          </a:bodyPr>
          <a:lstStyle/>
          <a:p>
            <a:pPr>
              <a:spcBef>
                <a:spcPts val="600"/>
              </a:spcBef>
            </a:pPr>
            <a:r>
              <a:rPr lang="en-IN" b="1" dirty="0">
                <a:solidFill>
                  <a:schemeClr val="accent4">
                    <a:lumMod val="50000"/>
                  </a:schemeClr>
                </a:solidFill>
                <a:latin typeface="Cambria Math" panose="02040503050406030204" pitchFamily="18" charset="0"/>
                <a:ea typeface="Cambria Math" panose="02040503050406030204" pitchFamily="18" charset="0"/>
              </a:rPr>
              <a:t>Presented by,</a:t>
            </a:r>
          </a:p>
          <a:p>
            <a:pPr>
              <a:buNone/>
            </a:pPr>
            <a:r>
              <a:rPr lang="en-US" dirty="0">
                <a:latin typeface="Cambria Math" pitchFamily="18" charset="0"/>
                <a:ea typeface="Cambria Math" pitchFamily="18" charset="0"/>
              </a:rPr>
              <a:t>1. T. Neelima(18MH1A0204)</a:t>
            </a:r>
          </a:p>
          <a:p>
            <a:pPr>
              <a:buNone/>
            </a:pPr>
            <a:r>
              <a:rPr lang="en-US" dirty="0">
                <a:latin typeface="Cambria Math" pitchFamily="18" charset="0"/>
                <a:ea typeface="Cambria Math" pitchFamily="18" charset="0"/>
              </a:rPr>
              <a:t>2. </a:t>
            </a:r>
            <a:r>
              <a:rPr lang="en-US" dirty="0" err="1">
                <a:latin typeface="Cambria Math" pitchFamily="18" charset="0"/>
                <a:ea typeface="Cambria Math" pitchFamily="18" charset="0"/>
              </a:rPr>
              <a:t>B.Manikanta</a:t>
            </a:r>
            <a:r>
              <a:rPr lang="en-US" dirty="0">
                <a:latin typeface="Cambria Math" pitchFamily="18" charset="0"/>
                <a:ea typeface="Cambria Math" pitchFamily="18" charset="0"/>
              </a:rPr>
              <a:t>(19MH5A0206)</a:t>
            </a:r>
          </a:p>
          <a:p>
            <a:pPr>
              <a:buNone/>
            </a:pPr>
            <a:r>
              <a:rPr lang="en-US" dirty="0">
                <a:latin typeface="Cambria Math" pitchFamily="18" charset="0"/>
                <a:ea typeface="Cambria Math" pitchFamily="18" charset="0"/>
              </a:rPr>
              <a:t>3. </a:t>
            </a:r>
            <a:r>
              <a:rPr lang="en-US" dirty="0" err="1">
                <a:latin typeface="Cambria Math" pitchFamily="18" charset="0"/>
                <a:ea typeface="Cambria Math" pitchFamily="18" charset="0"/>
              </a:rPr>
              <a:t>B.Venkataswamy</a:t>
            </a:r>
            <a:r>
              <a:rPr lang="en-US" dirty="0">
                <a:latin typeface="Cambria Math" pitchFamily="18" charset="0"/>
                <a:ea typeface="Cambria Math" pitchFamily="18" charset="0"/>
              </a:rPr>
              <a:t>(19MH5A0207)</a:t>
            </a:r>
          </a:p>
          <a:p>
            <a:pPr>
              <a:buNone/>
            </a:pPr>
            <a:r>
              <a:rPr lang="en-US" dirty="0">
                <a:latin typeface="Cambria Math" pitchFamily="18" charset="0"/>
                <a:ea typeface="Cambria Math" pitchFamily="18" charset="0"/>
              </a:rPr>
              <a:t>4. Ch. Surya Vamsi(19MH5A0213)</a:t>
            </a:r>
          </a:p>
          <a:p>
            <a:pPr>
              <a:buNone/>
            </a:pPr>
            <a:r>
              <a:rPr lang="en-US" dirty="0">
                <a:latin typeface="Cambria Math" pitchFamily="18" charset="0"/>
                <a:ea typeface="Cambria Math" pitchFamily="18" charset="0"/>
              </a:rPr>
              <a:t>5. </a:t>
            </a:r>
            <a:r>
              <a:rPr lang="en-US" dirty="0" err="1">
                <a:latin typeface="Cambria Math" pitchFamily="18" charset="0"/>
                <a:ea typeface="Cambria Math" pitchFamily="18" charset="0"/>
              </a:rPr>
              <a:t>G.Durga</a:t>
            </a:r>
            <a:r>
              <a:rPr lang="en-US" dirty="0">
                <a:latin typeface="Cambria Math" pitchFamily="18" charset="0"/>
                <a:ea typeface="Cambria Math" pitchFamily="18" charset="0"/>
              </a:rPr>
              <a:t> Surya Vamsi(19MH5A0218)</a:t>
            </a:r>
          </a:p>
          <a:p>
            <a:pPr>
              <a:buNone/>
            </a:pPr>
            <a:endParaRPr lang="en-US" dirty="0">
              <a:latin typeface="Cambria Math" pitchFamily="18" charset="0"/>
              <a:ea typeface="Cambria Math" pitchFamily="18" charset="0"/>
            </a:endParaRPr>
          </a:p>
        </p:txBody>
      </p:sp>
      <p:pic>
        <p:nvPicPr>
          <p:cNvPr id="8" name="Picture 4" descr="E:\aditya logo.jpg"/>
          <p:cNvPicPr>
            <a:picLocks noChangeAspect="1" noChangeArrowheads="1"/>
          </p:cNvPicPr>
          <p:nvPr/>
        </p:nvPicPr>
        <p:blipFill>
          <a:blip r:embed="rId3" cstate="print"/>
          <a:srcRect/>
          <a:stretch>
            <a:fillRect/>
          </a:stretch>
        </p:blipFill>
        <p:spPr bwMode="auto">
          <a:xfrm>
            <a:off x="1985554" y="2272937"/>
            <a:ext cx="7785463" cy="1436913"/>
          </a:xfrm>
          <a:prstGeom prst="rect">
            <a:avLst/>
          </a:prstGeom>
          <a:noFill/>
        </p:spPr>
      </p:pic>
      <p:sp>
        <p:nvSpPr>
          <p:cNvPr id="9" name="TextBox 8"/>
          <p:cNvSpPr txBox="1"/>
          <p:nvPr/>
        </p:nvSpPr>
        <p:spPr>
          <a:xfrm>
            <a:off x="2625634" y="3670664"/>
            <a:ext cx="6622868" cy="707886"/>
          </a:xfrm>
          <a:prstGeom prst="rect">
            <a:avLst/>
          </a:prstGeom>
          <a:noFill/>
        </p:spPr>
        <p:txBody>
          <a:bodyPr wrap="square" rtlCol="0">
            <a:spAutoFit/>
          </a:bodyPr>
          <a:lstStyle/>
          <a:p>
            <a:pPr algn="ctr"/>
            <a:r>
              <a:rPr lang="en-US" sz="2000" dirty="0">
                <a:solidFill>
                  <a:srgbClr val="FF0000"/>
                </a:solidFill>
                <a:latin typeface="Times New Roman" pitchFamily="18" charset="0"/>
                <a:cs typeface="Times New Roman" pitchFamily="18" charset="0"/>
              </a:rPr>
              <a:t>DEPARTMENT OF ELECTRICAL AND ELECTRONICS ENGINEERING </a:t>
            </a:r>
            <a:endParaRPr lang="en-IN" sz="2000" dirty="0">
              <a:solidFill>
                <a:srgbClr val="FF0000"/>
              </a:solidFill>
              <a:latin typeface="Times New Roman" pitchFamily="18" charset="0"/>
              <a:cs typeface="Times New Roman" pitchFamily="18" charset="0"/>
            </a:endParaRPr>
          </a:p>
        </p:txBody>
      </p:sp>
      <p:sp>
        <p:nvSpPr>
          <p:cNvPr id="10" name="Date Placeholder 9"/>
          <p:cNvSpPr>
            <a:spLocks noGrp="1"/>
          </p:cNvSpPr>
          <p:nvPr>
            <p:ph type="dt" sz="half" idx="10"/>
          </p:nvPr>
        </p:nvSpPr>
        <p:spPr>
          <a:xfrm>
            <a:off x="10600853" y="6553201"/>
            <a:ext cx="990599" cy="304799"/>
          </a:xfrm>
        </p:spPr>
        <p:txBody>
          <a:bodyPr/>
          <a:lstStyle/>
          <a:p>
            <a:fld id="{59AAC8D7-DF09-4DDD-B8E0-CC198D5A33E1}" type="datetime1">
              <a:rPr lang="en-IN" smtClean="0"/>
              <a:pPr/>
              <a:t>26-05-2022</a:t>
            </a:fld>
            <a:endParaRPr lang="en-IN" dirty="0"/>
          </a:p>
        </p:txBody>
      </p:sp>
      <p:sp>
        <p:nvSpPr>
          <p:cNvPr id="11" name="Footer Placeholder 10"/>
          <p:cNvSpPr>
            <a:spLocks noGrp="1"/>
          </p:cNvSpPr>
          <p:nvPr>
            <p:ph type="ftr" sz="quarter" idx="11"/>
          </p:nvPr>
        </p:nvSpPr>
        <p:spPr/>
        <p:txBody>
          <a:bodyPr/>
          <a:lstStyle/>
          <a:p>
            <a:r>
              <a:rPr lang="en-US" dirty="0"/>
              <a:t>Dept. of  EEE, ACOE</a:t>
            </a:r>
            <a:endParaRPr lang="en-IN" dirty="0"/>
          </a:p>
        </p:txBody>
      </p:sp>
    </p:spTree>
    <p:extLst>
      <p:ext uri="{BB962C8B-B14F-4D97-AF65-F5344CB8AC3E}">
        <p14:creationId xmlns:p14="http://schemas.microsoft.com/office/powerpoint/2010/main" val="3511337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IN" sz="3200" b="1" dirty="0">
                <a:latin typeface="Times New Roman" panose="02020603050405020304" pitchFamily="18" charset="0"/>
                <a:ea typeface="Cambria Math" panose="02040503050406030204" pitchFamily="18" charset="0"/>
                <a:cs typeface="Times New Roman" panose="02020603050405020304" pitchFamily="18" charset="0"/>
              </a:rPr>
              <a:t>Outline of Presentation</a:t>
            </a:r>
          </a:p>
        </p:txBody>
      </p:sp>
      <p:sp>
        <p:nvSpPr>
          <p:cNvPr id="3" name="Content Placeholder 2"/>
          <p:cNvSpPr>
            <a:spLocks noGrp="1"/>
          </p:cNvSpPr>
          <p:nvPr>
            <p:ph idx="1"/>
          </p:nvPr>
        </p:nvSpPr>
        <p:spPr>
          <a:xfrm>
            <a:off x="483326" y="2350311"/>
            <a:ext cx="11155680" cy="3998237"/>
          </a:xfrm>
          <a:ln>
            <a:solidFill>
              <a:schemeClr val="accent1"/>
            </a:solidFill>
          </a:ln>
        </p:spPr>
        <p:txBody>
          <a:bodyPr>
            <a:noAutofit/>
          </a:bodyPr>
          <a:lstStyle/>
          <a:p>
            <a:pPr algn="just">
              <a:lnSpc>
                <a:spcPct val="150000"/>
              </a:lnSpc>
              <a:spcBef>
                <a:spcPts val="0"/>
              </a:spcBef>
              <a:buFont typeface="Wingdings" panose="05000000000000000000" pitchFamily="2" charset="2"/>
              <a:buChar char="Ø"/>
            </a:pPr>
            <a:r>
              <a:rPr lang="en-GB" dirty="0">
                <a:solidFill>
                  <a:schemeClr val="tx1"/>
                </a:solidFill>
                <a:latin typeface="Cambria Math" pitchFamily="18" charset="0"/>
                <a:ea typeface="Cambria Math" pitchFamily="18" charset="0"/>
              </a:rPr>
              <a:t>Abstract </a:t>
            </a:r>
            <a:endParaRPr lang="en-US" dirty="0">
              <a:solidFill>
                <a:schemeClr val="tx1"/>
              </a:solidFill>
              <a:latin typeface="Cambria Math" pitchFamily="18" charset="0"/>
              <a:ea typeface="Cambria Math" pitchFamily="18" charset="0"/>
            </a:endParaRPr>
          </a:p>
          <a:p>
            <a:pPr algn="just">
              <a:lnSpc>
                <a:spcPct val="150000"/>
              </a:lnSpc>
              <a:spcBef>
                <a:spcPts val="0"/>
              </a:spcBef>
              <a:buFont typeface="Wingdings" panose="05000000000000000000" pitchFamily="2" charset="2"/>
              <a:buChar char="Ø"/>
            </a:pPr>
            <a:r>
              <a:rPr lang="en-GB" dirty="0">
                <a:solidFill>
                  <a:schemeClr val="tx1"/>
                </a:solidFill>
                <a:latin typeface="Cambria Math" pitchFamily="18" charset="0"/>
                <a:ea typeface="Cambria Math" pitchFamily="18" charset="0"/>
              </a:rPr>
              <a:t>Introduction</a:t>
            </a:r>
          </a:p>
          <a:p>
            <a:pPr algn="just">
              <a:lnSpc>
                <a:spcPct val="150000"/>
              </a:lnSpc>
              <a:spcBef>
                <a:spcPts val="0"/>
              </a:spcBef>
              <a:buFont typeface="Wingdings" panose="05000000000000000000" pitchFamily="2" charset="2"/>
              <a:buChar char="Ø"/>
            </a:pPr>
            <a:r>
              <a:rPr lang="en-GB" dirty="0">
                <a:solidFill>
                  <a:schemeClr val="tx1"/>
                </a:solidFill>
                <a:latin typeface="Cambria Math" pitchFamily="18" charset="0"/>
                <a:ea typeface="Cambria Math" pitchFamily="18" charset="0"/>
              </a:rPr>
              <a:t>Literature Survey</a:t>
            </a:r>
          </a:p>
          <a:p>
            <a:pPr algn="just">
              <a:lnSpc>
                <a:spcPct val="150000"/>
              </a:lnSpc>
              <a:spcBef>
                <a:spcPts val="0"/>
              </a:spcBef>
              <a:buFont typeface="Wingdings" panose="05000000000000000000" pitchFamily="2" charset="2"/>
              <a:buChar char="Ø"/>
            </a:pPr>
            <a:r>
              <a:rPr lang="en-US" dirty="0">
                <a:solidFill>
                  <a:schemeClr val="tx1"/>
                </a:solidFill>
                <a:latin typeface="Cambria Math" pitchFamily="18" charset="0"/>
                <a:ea typeface="Cambria Math" pitchFamily="18" charset="0"/>
              </a:rPr>
              <a:t>Problem formulation</a:t>
            </a:r>
          </a:p>
          <a:p>
            <a:pPr algn="just">
              <a:lnSpc>
                <a:spcPct val="150000"/>
              </a:lnSpc>
              <a:spcBef>
                <a:spcPts val="0"/>
              </a:spcBef>
              <a:buFont typeface="Wingdings" panose="05000000000000000000" pitchFamily="2" charset="2"/>
              <a:buChar char="Ø"/>
            </a:pPr>
            <a:r>
              <a:rPr lang="en-GB" dirty="0">
                <a:solidFill>
                  <a:schemeClr val="tx1"/>
                </a:solidFill>
                <a:latin typeface="Cambria Math" pitchFamily="18" charset="0"/>
                <a:ea typeface="Cambria Math" pitchFamily="18" charset="0"/>
              </a:rPr>
              <a:t> Block Diagram</a:t>
            </a:r>
          </a:p>
          <a:p>
            <a:pPr marL="0" indent="0" algn="just">
              <a:lnSpc>
                <a:spcPct val="150000"/>
              </a:lnSpc>
              <a:spcBef>
                <a:spcPts val="0"/>
              </a:spcBef>
              <a:buNone/>
            </a:pPr>
            <a:endParaRPr lang="en-GB" dirty="0">
              <a:solidFill>
                <a:schemeClr val="tx1"/>
              </a:solidFill>
              <a:latin typeface="Cambria Math" pitchFamily="18" charset="0"/>
              <a:ea typeface="Cambria Math" pitchFamily="18" charset="0"/>
            </a:endParaRPr>
          </a:p>
          <a:p>
            <a:pPr marL="0" indent="0" algn="just">
              <a:lnSpc>
                <a:spcPct val="150000"/>
              </a:lnSpc>
              <a:spcBef>
                <a:spcPts val="0"/>
              </a:spcBef>
              <a:buNone/>
            </a:pPr>
            <a:endParaRPr lang="en-US" dirty="0">
              <a:solidFill>
                <a:schemeClr val="tx1"/>
              </a:solidFill>
              <a:latin typeface="Cambria Math" pitchFamily="18" charset="0"/>
              <a:ea typeface="Cambria Math" pitchFamily="18" charset="0"/>
            </a:endParaRPr>
          </a:p>
          <a:p>
            <a:pPr marL="0" indent="0" algn="just">
              <a:spcBef>
                <a:spcPts val="0"/>
              </a:spcBef>
              <a:buNone/>
            </a:pPr>
            <a:endParaRPr lang="en-US" sz="1600" dirty="0">
              <a:latin typeface="Bookman Old Style" panose="02050604050505020204" pitchFamily="18" charset="0"/>
              <a:ea typeface="Cambria Math" panose="02040503050406030204" pitchFamily="18" charset="0"/>
            </a:endParaRPr>
          </a:p>
        </p:txBody>
      </p:sp>
      <p:sp>
        <p:nvSpPr>
          <p:cNvPr id="4" name="Date Placeholder 3"/>
          <p:cNvSpPr>
            <a:spLocks noGrp="1"/>
          </p:cNvSpPr>
          <p:nvPr>
            <p:ph type="dt" sz="half" idx="10"/>
          </p:nvPr>
        </p:nvSpPr>
        <p:spPr/>
        <p:txBody>
          <a:bodyPr/>
          <a:lstStyle/>
          <a:p>
            <a:fld id="{63450F47-6E83-46CE-844B-385418B8F5C9}" type="datetime1">
              <a:rPr lang="en-IN" smtClean="0"/>
              <a:pPr/>
              <a:t>26-05-2022</a:t>
            </a:fld>
            <a:endParaRPr lang="en-IN"/>
          </a:p>
        </p:txBody>
      </p:sp>
      <p:sp>
        <p:nvSpPr>
          <p:cNvPr id="6" name="Footer Placeholder 5"/>
          <p:cNvSpPr>
            <a:spLocks noGrp="1"/>
          </p:cNvSpPr>
          <p:nvPr>
            <p:ph type="ftr" sz="quarter" idx="11"/>
          </p:nvPr>
        </p:nvSpPr>
        <p:spPr/>
        <p:txBody>
          <a:bodyPr/>
          <a:lstStyle/>
          <a:p>
            <a:r>
              <a:rPr lang="en-IN" dirty="0"/>
              <a:t>Dept. of  EEE, ACOE</a:t>
            </a:r>
          </a:p>
        </p:txBody>
      </p:sp>
    </p:spTree>
    <p:extLst>
      <p:ext uri="{BB962C8B-B14F-4D97-AF65-F5344CB8AC3E}">
        <p14:creationId xmlns:p14="http://schemas.microsoft.com/office/powerpoint/2010/main" val="3936645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0B6D-689B-41E6-82E5-C17356AEFD8C}"/>
              </a:ext>
            </a:extLst>
          </p:cNvPr>
          <p:cNvSpPr>
            <a:spLocks noGrp="1"/>
          </p:cNvSpPr>
          <p:nvPr>
            <p:ph type="title"/>
          </p:nvPr>
        </p:nvSpPr>
        <p:spPr/>
        <p:txBody>
          <a:bodyPr/>
          <a:lstStyle/>
          <a:p>
            <a:pPr algn="ctr"/>
            <a:r>
              <a:rPr lang="en-IN" sz="3600" b="1" dirty="0">
                <a:latin typeface="Times New Roman" panose="02020603050405020304" pitchFamily="18" charset="0"/>
                <a:ea typeface="Cambria Math" panose="02040503050406030204" pitchFamily="18" charset="0"/>
                <a:cs typeface="Times New Roman" panose="02020603050405020304" pitchFamily="18" charset="0"/>
              </a:rPr>
              <a:t>Outline of Presentation</a:t>
            </a:r>
            <a:endParaRPr lang="en-IN" dirty="0"/>
          </a:p>
        </p:txBody>
      </p:sp>
      <p:sp>
        <p:nvSpPr>
          <p:cNvPr id="3" name="Content Placeholder 2">
            <a:extLst>
              <a:ext uri="{FF2B5EF4-FFF2-40B4-BE49-F238E27FC236}">
                <a16:creationId xmlns:a16="http://schemas.microsoft.com/office/drawing/2014/main" id="{CE4A6756-F17D-451D-84F6-F652372C1E8D}"/>
              </a:ext>
            </a:extLst>
          </p:cNvPr>
          <p:cNvSpPr>
            <a:spLocks noGrp="1"/>
          </p:cNvSpPr>
          <p:nvPr>
            <p:ph idx="1"/>
          </p:nvPr>
        </p:nvSpPr>
        <p:spPr/>
        <p:txBody>
          <a:bodyPr/>
          <a:lstStyle/>
          <a:p>
            <a:pPr algn="just">
              <a:lnSpc>
                <a:spcPct val="150000"/>
              </a:lnSpc>
              <a:spcBef>
                <a:spcPts val="0"/>
              </a:spcBef>
              <a:buFont typeface="Wingdings" panose="05000000000000000000" pitchFamily="2" charset="2"/>
              <a:buChar char="Ø"/>
            </a:pPr>
            <a:r>
              <a:rPr lang="en-US" dirty="0">
                <a:solidFill>
                  <a:schemeClr val="tx1"/>
                </a:solidFill>
                <a:latin typeface="Cambria Math" pitchFamily="18" charset="0"/>
                <a:ea typeface="Cambria Math" pitchFamily="18" charset="0"/>
              </a:rPr>
              <a:t>Our components in project</a:t>
            </a:r>
          </a:p>
          <a:p>
            <a:pPr algn="just">
              <a:lnSpc>
                <a:spcPct val="150000"/>
              </a:lnSpc>
              <a:spcBef>
                <a:spcPts val="0"/>
              </a:spcBef>
              <a:buFont typeface="Wingdings" panose="05000000000000000000" pitchFamily="2" charset="2"/>
              <a:buChar char="Ø"/>
            </a:pPr>
            <a:r>
              <a:rPr lang="en-US" dirty="0">
                <a:solidFill>
                  <a:schemeClr val="tx1"/>
                </a:solidFill>
                <a:latin typeface="Cambria Math" pitchFamily="18" charset="0"/>
                <a:ea typeface="Cambria Math" pitchFamily="18" charset="0"/>
              </a:rPr>
              <a:t>Our Robots</a:t>
            </a:r>
          </a:p>
          <a:p>
            <a:pPr algn="just">
              <a:lnSpc>
                <a:spcPct val="150000"/>
              </a:lnSpc>
              <a:spcBef>
                <a:spcPts val="0"/>
              </a:spcBef>
              <a:buFont typeface="Wingdings" panose="05000000000000000000" pitchFamily="2" charset="2"/>
              <a:buChar char="Ø"/>
            </a:pPr>
            <a:r>
              <a:rPr lang="en-US" dirty="0">
                <a:solidFill>
                  <a:schemeClr val="tx1"/>
                </a:solidFill>
                <a:latin typeface="Cambria Math" pitchFamily="18" charset="0"/>
                <a:ea typeface="Cambria Math" pitchFamily="18" charset="0"/>
              </a:rPr>
              <a:t>Methodology</a:t>
            </a:r>
          </a:p>
          <a:p>
            <a:pPr algn="just">
              <a:lnSpc>
                <a:spcPct val="150000"/>
              </a:lnSpc>
              <a:spcBef>
                <a:spcPts val="0"/>
              </a:spcBef>
              <a:buFont typeface="Wingdings" panose="05000000000000000000" pitchFamily="2" charset="2"/>
              <a:buChar char="Ø"/>
            </a:pPr>
            <a:r>
              <a:rPr lang="en-US" dirty="0">
                <a:solidFill>
                  <a:schemeClr val="tx1"/>
                </a:solidFill>
                <a:latin typeface="Cambria Math" pitchFamily="18" charset="0"/>
                <a:ea typeface="Cambria Math" pitchFamily="18" charset="0"/>
              </a:rPr>
              <a:t>Simulation results</a:t>
            </a:r>
          </a:p>
          <a:p>
            <a:pPr algn="just">
              <a:lnSpc>
                <a:spcPct val="150000"/>
              </a:lnSpc>
              <a:spcBef>
                <a:spcPts val="0"/>
              </a:spcBef>
              <a:buFont typeface="Wingdings" panose="05000000000000000000" pitchFamily="2" charset="2"/>
              <a:buChar char="Ø"/>
            </a:pPr>
            <a:r>
              <a:rPr lang="en-US" dirty="0">
                <a:solidFill>
                  <a:schemeClr val="tx1"/>
                </a:solidFill>
                <a:latin typeface="Cambria Math" pitchFamily="18" charset="0"/>
                <a:ea typeface="Cambria Math" pitchFamily="18" charset="0"/>
              </a:rPr>
              <a:t>Future Scope</a:t>
            </a:r>
          </a:p>
          <a:p>
            <a:pPr algn="just">
              <a:lnSpc>
                <a:spcPct val="150000"/>
              </a:lnSpc>
              <a:spcBef>
                <a:spcPts val="0"/>
              </a:spcBef>
              <a:buFont typeface="Wingdings" panose="05000000000000000000" pitchFamily="2" charset="2"/>
              <a:buChar char="Ø"/>
            </a:pPr>
            <a:r>
              <a:rPr lang="en-IN" dirty="0">
                <a:solidFill>
                  <a:schemeClr val="tx1"/>
                </a:solidFill>
                <a:latin typeface="Cambria Math" pitchFamily="18" charset="0"/>
                <a:ea typeface="Cambria Math" pitchFamily="18" charset="0"/>
              </a:rPr>
              <a:t>Conclusion</a:t>
            </a:r>
          </a:p>
          <a:p>
            <a:pPr algn="just">
              <a:lnSpc>
                <a:spcPct val="150000"/>
              </a:lnSpc>
              <a:spcBef>
                <a:spcPts val="0"/>
              </a:spcBef>
              <a:buFont typeface="Wingdings" panose="05000000000000000000" pitchFamily="2" charset="2"/>
              <a:buChar char="Ø"/>
            </a:pPr>
            <a:r>
              <a:rPr lang="en-IN" dirty="0">
                <a:solidFill>
                  <a:schemeClr val="tx1"/>
                </a:solidFill>
                <a:latin typeface="Cambria Math" pitchFamily="18" charset="0"/>
                <a:ea typeface="Cambria Math" pitchFamily="18" charset="0"/>
              </a:rPr>
              <a:t>Reference</a:t>
            </a:r>
            <a:endParaRPr lang="en-US" dirty="0">
              <a:solidFill>
                <a:schemeClr val="tx1"/>
              </a:solidFill>
              <a:latin typeface="Cambria Math" pitchFamily="18" charset="0"/>
              <a:ea typeface="Cambria Math"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4EE3F003-2D69-4824-AA97-4B0898E7B3BE}"/>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259DF3BF-81F7-44DF-A589-951863E0C4BB}"/>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961094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ln>
            <a:noFill/>
          </a:ln>
        </p:spPr>
        <p:txBody>
          <a:bodyPr/>
          <a:lstStyle/>
          <a:p>
            <a:pPr algn="ctr"/>
            <a:br>
              <a:rPr lang="en-GB" b="1">
                <a:latin typeface="Cambria Math" panose="02040503050406030204" pitchFamily="18" charset="0"/>
                <a:ea typeface="Cambria Math" panose="02040503050406030204" pitchFamily="18" charset="0"/>
              </a:rPr>
            </a:br>
            <a:r>
              <a:rPr lang="en-GB" b="1">
                <a:latin typeface="Cambria Math" panose="02040503050406030204" pitchFamily="18" charset="0"/>
                <a:ea typeface="Cambria Math" panose="02040503050406030204" pitchFamily="18" charset="0"/>
              </a:rPr>
              <a:t>Abstract</a:t>
            </a:r>
            <a:br>
              <a:rPr lang="en-GB" b="1">
                <a:latin typeface="Cambria Math" panose="02040503050406030204" pitchFamily="18" charset="0"/>
                <a:ea typeface="Cambria Math" panose="02040503050406030204" pitchFamily="18" charset="0"/>
              </a:rPr>
            </a:br>
            <a:endParaRPr lang="en-IN" b="1" dirty="0">
              <a:latin typeface="Cambria Math" panose="02040503050406030204" pitchFamily="18" charset="0"/>
              <a:ea typeface="Cambria Math" panose="02040503050406030204" pitchFamily="18" charset="0"/>
            </a:endParaRPr>
          </a:p>
        </p:txBody>
      </p:sp>
      <p:sp>
        <p:nvSpPr>
          <p:cNvPr id="6" name="Content Placeholder 5"/>
          <p:cNvSpPr>
            <a:spLocks noGrp="1"/>
          </p:cNvSpPr>
          <p:nvPr>
            <p:ph idx="1"/>
          </p:nvPr>
        </p:nvSpPr>
        <p:spPr>
          <a:xfrm>
            <a:off x="578224" y="2541494"/>
            <a:ext cx="11134164" cy="3478306"/>
          </a:xfrm>
          <a:ln>
            <a:solidFill>
              <a:schemeClr val="accent1"/>
            </a:solidFill>
          </a:ln>
        </p:spPr>
        <p:txBody>
          <a:bodyPr>
            <a:normAutofit/>
          </a:bodyPr>
          <a:lstStyle/>
          <a:p>
            <a:pPr algn="just"/>
            <a:r>
              <a:rPr lang="en-US" dirty="0">
                <a:solidFill>
                  <a:schemeClr val="tx1"/>
                </a:solidFill>
                <a:latin typeface="Cambria Math" pitchFamily="18" charset="0"/>
                <a:ea typeface="Cambria Math" pitchFamily="18" charset="0"/>
              </a:rPr>
              <a:t>Many tasks which are beyond the human ability can be performed with the help of robotics. </a:t>
            </a:r>
          </a:p>
          <a:p>
            <a:pPr algn="just"/>
            <a:r>
              <a:rPr lang="en-US" dirty="0">
                <a:solidFill>
                  <a:schemeClr val="tx1"/>
                </a:solidFill>
                <a:latin typeface="Cambria Math" pitchFamily="18" charset="0"/>
                <a:ea typeface="Cambria Math" pitchFamily="18" charset="0"/>
              </a:rPr>
              <a:t>In this project autonomous robots with central navigation system are used to deliver packages from source to destination.</a:t>
            </a:r>
          </a:p>
          <a:p>
            <a:pPr algn="just"/>
            <a:r>
              <a:rPr lang="en-US" dirty="0">
                <a:solidFill>
                  <a:schemeClr val="tx1"/>
                </a:solidFill>
                <a:latin typeface="Cambria Math" pitchFamily="18" charset="0"/>
                <a:ea typeface="Cambria Math" pitchFamily="18" charset="0"/>
              </a:rPr>
              <a:t>The advancement of robot technology will be amazing and today, robots can be seen virtually in all the fields from transport to health, and recreations to industries.</a:t>
            </a:r>
          </a:p>
          <a:p>
            <a:pPr algn="just"/>
            <a:r>
              <a:rPr lang="en-US" dirty="0">
                <a:solidFill>
                  <a:schemeClr val="tx1"/>
                </a:solidFill>
                <a:latin typeface="Cambria Math" pitchFamily="18" charset="0"/>
                <a:ea typeface="Cambria Math" pitchFamily="18" charset="0"/>
              </a:rPr>
              <a:t>The navigation of tracking the robot using Arduino used to delivering the objects form source to destination in quickly with in the effective manner with most accurately without using the sensors. </a:t>
            </a:r>
          </a:p>
          <a:p>
            <a:pPr algn="just"/>
            <a:r>
              <a:rPr lang="en-US" dirty="0">
                <a:solidFill>
                  <a:schemeClr val="tx1"/>
                </a:solidFill>
                <a:latin typeface="Cambria Math" pitchFamily="18" charset="0"/>
                <a:ea typeface="Cambria Math" pitchFamily="18" charset="0"/>
              </a:rPr>
              <a:t>The camera is continuously monitoring the robot and assigning the path based upon the software instructions.</a:t>
            </a:r>
          </a:p>
          <a:p>
            <a:pPr algn="just"/>
            <a:endParaRPr lang="en-US" dirty="0">
              <a:latin typeface="Cambria Math" pitchFamily="18" charset="0"/>
              <a:ea typeface="Cambria Math" pitchFamily="18" charset="0"/>
            </a:endParaRPr>
          </a:p>
          <a:p>
            <a:pPr algn="just"/>
            <a:endParaRPr lang="en-IN" dirty="0">
              <a:latin typeface="Cambria Math" pitchFamily="18" charset="0"/>
              <a:ea typeface="Cambria Math" pitchFamily="18" charset="0"/>
            </a:endParaRPr>
          </a:p>
        </p:txBody>
      </p:sp>
      <p:sp>
        <p:nvSpPr>
          <p:cNvPr id="4" name="Date Placeholder 3"/>
          <p:cNvSpPr>
            <a:spLocks noGrp="1"/>
          </p:cNvSpPr>
          <p:nvPr>
            <p:ph type="dt" sz="half" idx="10"/>
          </p:nvPr>
        </p:nvSpPr>
        <p:spPr/>
        <p:txBody>
          <a:bodyPr/>
          <a:lstStyle/>
          <a:p>
            <a:fld id="{D5BE360B-0EF3-4001-9346-4597F17F19AD}" type="datetime1">
              <a:rPr lang="en-IN" smtClean="0"/>
              <a:pPr/>
              <a:t>26-05-2022</a:t>
            </a:fld>
            <a:endParaRPr lang="en-IN"/>
          </a:p>
        </p:txBody>
      </p:sp>
      <p:sp>
        <p:nvSpPr>
          <p:cNvPr id="8" name="Footer Placeholder 7"/>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4056476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6A845-E270-47BF-93C1-A6136A7F558F}"/>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965C51C4-1C94-490E-A084-6BBC21529F6F}"/>
              </a:ext>
            </a:extLst>
          </p:cNvPr>
          <p:cNvSpPr>
            <a:spLocks noGrp="1"/>
          </p:cNvSpPr>
          <p:nvPr>
            <p:ph idx="1"/>
          </p:nvPr>
        </p:nvSpPr>
        <p:spPr/>
        <p:txBody>
          <a:bodyPr/>
          <a:lstStyle/>
          <a:p>
            <a:r>
              <a:rPr lang="en-US" dirty="0">
                <a:solidFill>
                  <a:schemeClr val="tx1"/>
                </a:solidFill>
                <a:latin typeface="Cambria Math" pitchFamily="18" charset="0"/>
                <a:ea typeface="Cambria Math" pitchFamily="18" charset="0"/>
              </a:rPr>
              <a:t> Many tasks which are beyond the human ability can be performed with the help of robotics and robotics in the war will be very helpful in its operation. </a:t>
            </a:r>
          </a:p>
          <a:p>
            <a:r>
              <a:rPr lang="en-US" dirty="0">
                <a:solidFill>
                  <a:schemeClr val="tx1"/>
                </a:solidFill>
                <a:latin typeface="Cambria Math" pitchFamily="18" charset="0"/>
                <a:ea typeface="Cambria Math" pitchFamily="18" charset="0"/>
              </a:rPr>
              <a:t>The advancement of robot technology will be amazing and today, robots can be seen virtually in all the fields from transport to health, and recreations to industries.</a:t>
            </a:r>
          </a:p>
          <a:p>
            <a:r>
              <a:rPr lang="en-US" dirty="0">
                <a:solidFill>
                  <a:schemeClr val="tx1"/>
                </a:solidFill>
                <a:latin typeface="Cambria Math" pitchFamily="18" charset="0"/>
                <a:ea typeface="Cambria Math" pitchFamily="18" charset="0"/>
              </a:rPr>
              <a:t> The use of this technology will get proclamations from the society for taking away the jobs of ordinary man.</a:t>
            </a:r>
          </a:p>
          <a:p>
            <a:r>
              <a:rPr lang="en-US" dirty="0">
                <a:solidFill>
                  <a:schemeClr val="tx1"/>
                </a:solidFill>
                <a:latin typeface="Cambria Math" pitchFamily="18" charset="0"/>
                <a:ea typeface="Cambria Math" pitchFamily="18" charset="0"/>
              </a:rPr>
              <a:t> But to solve the issues related to this the usage of robots should be applied to selected tasks and mostly be used in the areas where human cannot reach or is not capable of performing.</a:t>
            </a:r>
          </a:p>
          <a:p>
            <a:endParaRPr lang="en-IN" dirty="0"/>
          </a:p>
        </p:txBody>
      </p:sp>
      <p:sp>
        <p:nvSpPr>
          <p:cNvPr id="4" name="Date Placeholder 3">
            <a:extLst>
              <a:ext uri="{FF2B5EF4-FFF2-40B4-BE49-F238E27FC236}">
                <a16:creationId xmlns:a16="http://schemas.microsoft.com/office/drawing/2014/main" id="{AA12C9B3-2895-43D4-BAEA-65E88476E0A8}"/>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99B52598-9FAF-4846-8306-9E51CD2D1437}"/>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60988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6AE9-E989-401E-8F70-DD9586F47150}"/>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Literature Survey</a:t>
            </a:r>
          </a:p>
        </p:txBody>
      </p:sp>
      <p:sp>
        <p:nvSpPr>
          <p:cNvPr id="3" name="Content Placeholder 2">
            <a:extLst>
              <a:ext uri="{FF2B5EF4-FFF2-40B4-BE49-F238E27FC236}">
                <a16:creationId xmlns:a16="http://schemas.microsoft.com/office/drawing/2014/main" id="{9415AF7A-52F7-4BE4-AF20-C187E58CF43B}"/>
              </a:ext>
            </a:extLst>
          </p:cNvPr>
          <p:cNvSpPr>
            <a:spLocks noGrp="1"/>
          </p:cNvSpPr>
          <p:nvPr>
            <p:ph idx="1"/>
          </p:nvPr>
        </p:nvSpPr>
        <p:spPr/>
        <p:txBody>
          <a:bodyPr/>
          <a:lstStyle/>
          <a:p>
            <a:r>
              <a:rPr lang="en-IN" sz="1800" dirty="0">
                <a:latin typeface="Times New Roman" panose="02020603050405020304" pitchFamily="18" charset="0"/>
                <a:cs typeface="Times New Roman" panose="02020603050405020304" pitchFamily="18" charset="0"/>
              </a:rPr>
              <a:t>T</a:t>
            </a:r>
            <a:r>
              <a:rPr lang="en-IN" sz="1800" b="0" i="0" dirty="0">
                <a:effectLst/>
                <a:latin typeface="Times New Roman" panose="02020603050405020304" pitchFamily="18" charset="0"/>
                <a:cs typeface="Times New Roman" panose="02020603050405020304" pitchFamily="18" charset="0"/>
              </a:rPr>
              <a:t>he true history of robotics dates back to 3000 BC.</a:t>
            </a:r>
          </a:p>
          <a:p>
            <a:r>
              <a:rPr lang="en-IN" dirty="0">
                <a:latin typeface="Times New Roman" panose="02020603050405020304" pitchFamily="18" charset="0"/>
                <a:cs typeface="Times New Roman" panose="02020603050405020304" pitchFamily="18" charset="0"/>
              </a:rPr>
              <a:t>The first electronic autonomous robots were created by William Grey Walter in 1948.</a:t>
            </a:r>
          </a:p>
          <a:p>
            <a:r>
              <a:rPr lang="en-IN" dirty="0">
                <a:latin typeface="Times New Roman" panose="02020603050405020304" pitchFamily="18" charset="0"/>
                <a:cs typeface="Times New Roman" panose="02020603050405020304" pitchFamily="18" charset="0"/>
              </a:rPr>
              <a:t>The first digitally operated and programmable robot was invented by George </a:t>
            </a:r>
            <a:r>
              <a:rPr lang="en-IN" dirty="0" err="1">
                <a:latin typeface="Times New Roman" panose="02020603050405020304" pitchFamily="18" charset="0"/>
                <a:cs typeface="Times New Roman" panose="02020603050405020304" pitchFamily="18" charset="0"/>
              </a:rPr>
              <a:t>Devol</a:t>
            </a:r>
            <a:r>
              <a:rPr lang="en-IN" dirty="0">
                <a:latin typeface="Times New Roman" panose="02020603050405020304" pitchFamily="18" charset="0"/>
                <a:cs typeface="Times New Roman" panose="02020603050405020304" pitchFamily="18" charset="0"/>
              </a:rPr>
              <a:t> in 1954 and was ultimately called the </a:t>
            </a:r>
            <a:r>
              <a:rPr lang="en-IN" dirty="0" err="1">
                <a:latin typeface="Times New Roman" panose="02020603050405020304" pitchFamily="18" charset="0"/>
                <a:cs typeface="Times New Roman" panose="02020603050405020304" pitchFamily="18" charset="0"/>
              </a:rPr>
              <a:t>Unimate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The first mobile robot, Shakey, was built in 1970 by the Stanford Research Institute.</a:t>
            </a:r>
          </a:p>
          <a:p>
            <a:r>
              <a:rPr lang="en-IN" dirty="0">
                <a:latin typeface="Times New Roman" panose="02020603050405020304" pitchFamily="18" charset="0"/>
                <a:cs typeface="Times New Roman" panose="02020603050405020304" pitchFamily="18" charset="0"/>
              </a:rPr>
              <a:t>In 2000, Honda revealed the most advanced result of their robotic project.</a:t>
            </a:r>
          </a:p>
          <a:p>
            <a:r>
              <a:rPr lang="en-IN" sz="1800" b="0" i="0" dirty="0">
                <a:effectLst/>
                <a:latin typeface="Times New Roman" panose="02020603050405020304" pitchFamily="18" charset="0"/>
                <a:cs typeface="Times New Roman" panose="02020603050405020304" pitchFamily="18" charset="0"/>
              </a:rPr>
              <a:t>Robotic inventions reached a relative peak in recent years.</a:t>
            </a:r>
          </a:p>
        </p:txBody>
      </p:sp>
      <p:sp>
        <p:nvSpPr>
          <p:cNvPr id="4" name="Date Placeholder 3">
            <a:extLst>
              <a:ext uri="{FF2B5EF4-FFF2-40B4-BE49-F238E27FC236}">
                <a16:creationId xmlns:a16="http://schemas.microsoft.com/office/drawing/2014/main" id="{9A9E969F-416E-4909-82E0-880303C62352}"/>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0BCCCC25-C20B-421B-9A00-6A289BCFBBDB}"/>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27928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IN" b="1" dirty="0">
                <a:latin typeface="Cambria Math" panose="02040503050406030204" pitchFamily="18" charset="0"/>
                <a:ea typeface="Cambria Math" panose="02040503050406030204" pitchFamily="18" charset="0"/>
              </a:rPr>
              <a:t>Problem Formulation</a:t>
            </a:r>
          </a:p>
        </p:txBody>
      </p:sp>
      <p:sp>
        <p:nvSpPr>
          <p:cNvPr id="4" name="Content Placeholder 3"/>
          <p:cNvSpPr>
            <a:spLocks noGrp="1"/>
          </p:cNvSpPr>
          <p:nvPr>
            <p:ph idx="1"/>
          </p:nvPr>
        </p:nvSpPr>
        <p:spPr>
          <a:xfrm>
            <a:off x="726142" y="2603500"/>
            <a:ext cx="10865223" cy="3416300"/>
          </a:xfrm>
          <a:ln>
            <a:solidFill>
              <a:schemeClr val="accent1"/>
            </a:solidFill>
          </a:ln>
        </p:spPr>
        <p:txBody>
          <a:bodyPr>
            <a:noAutofit/>
          </a:bodyPr>
          <a:lstStyle/>
          <a:p>
            <a:pPr algn="just">
              <a:lnSpc>
                <a:spcPct val="200000"/>
              </a:lnSpc>
            </a:pPr>
            <a:r>
              <a:rPr lang="en-IN" dirty="0">
                <a:latin typeface="Cambria Math" pitchFamily="18" charset="0"/>
                <a:ea typeface="Cambria Math" pitchFamily="18" charset="0"/>
              </a:rPr>
              <a:t> </a:t>
            </a:r>
            <a:r>
              <a:rPr lang="en-US" dirty="0">
                <a:solidFill>
                  <a:schemeClr val="tx1"/>
                </a:solidFill>
                <a:latin typeface="Cambria Math" pitchFamily="18" charset="0"/>
                <a:ea typeface="Cambria Math" pitchFamily="18" charset="0"/>
              </a:rPr>
              <a:t>A list of packages will be given to every robot.</a:t>
            </a:r>
          </a:p>
          <a:p>
            <a:pPr algn="just">
              <a:lnSpc>
                <a:spcPct val="200000"/>
              </a:lnSpc>
            </a:pPr>
            <a:r>
              <a:rPr lang="en-US" dirty="0">
                <a:solidFill>
                  <a:schemeClr val="tx1"/>
                </a:solidFill>
                <a:latin typeface="Cambria Math" pitchFamily="18" charset="0"/>
                <a:ea typeface="Cambria Math" pitchFamily="18" charset="0"/>
              </a:rPr>
              <a:t>Only one package to be loaded on the Robot at a time.</a:t>
            </a:r>
          </a:p>
          <a:p>
            <a:pPr algn="just">
              <a:lnSpc>
                <a:spcPct val="200000"/>
              </a:lnSpc>
            </a:pPr>
            <a:r>
              <a:rPr lang="en-US" dirty="0">
                <a:solidFill>
                  <a:schemeClr val="tx1"/>
                </a:solidFill>
                <a:latin typeface="Cambria Math" pitchFamily="18" charset="0"/>
                <a:ea typeface="Cambria Math" pitchFamily="18" charset="0"/>
              </a:rPr>
              <a:t>Packages can be loaded onto bots only once bots are within the induct zones</a:t>
            </a:r>
          </a:p>
          <a:p>
            <a:pPr algn="just">
              <a:lnSpc>
                <a:spcPct val="200000"/>
              </a:lnSpc>
            </a:pPr>
            <a:r>
              <a:rPr lang="en-US" dirty="0">
                <a:solidFill>
                  <a:schemeClr val="tx1"/>
                </a:solidFill>
                <a:latin typeface="Cambria Math" pitchFamily="18" charset="0"/>
                <a:ea typeface="Cambria Math" pitchFamily="18" charset="0"/>
              </a:rPr>
              <a:t>Bots need to move and drop off packages inside the chutes</a:t>
            </a:r>
            <a:endParaRPr lang="en-IN" dirty="0">
              <a:solidFill>
                <a:schemeClr val="tx1"/>
              </a:solidFill>
              <a:latin typeface="Cambria Math" pitchFamily="18" charset="0"/>
              <a:ea typeface="Cambria Math" pitchFamily="18" charset="0"/>
            </a:endParaRPr>
          </a:p>
        </p:txBody>
      </p:sp>
      <p:sp>
        <p:nvSpPr>
          <p:cNvPr id="5" name="Date Placeholder 4"/>
          <p:cNvSpPr>
            <a:spLocks noGrp="1"/>
          </p:cNvSpPr>
          <p:nvPr>
            <p:ph type="dt" sz="half" idx="10"/>
          </p:nvPr>
        </p:nvSpPr>
        <p:spPr/>
        <p:txBody>
          <a:bodyPr/>
          <a:lstStyle/>
          <a:p>
            <a:fld id="{269E79AD-AF9E-40ED-AF81-9E603B93EAC4}" type="datetime1">
              <a:rPr lang="en-IN" smtClean="0"/>
              <a:pPr/>
              <a:t>26-05-2022</a:t>
            </a:fld>
            <a:endParaRPr lang="en-IN"/>
          </a:p>
        </p:txBody>
      </p:sp>
      <p:sp>
        <p:nvSpPr>
          <p:cNvPr id="7" name="Footer Placeholder 6"/>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65573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53CAE-63C5-480A-A451-037CCC9239E5}"/>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Block Diagram</a:t>
            </a:r>
          </a:p>
        </p:txBody>
      </p:sp>
      <p:sp>
        <p:nvSpPr>
          <p:cNvPr id="4" name="Date Placeholder 3">
            <a:extLst>
              <a:ext uri="{FF2B5EF4-FFF2-40B4-BE49-F238E27FC236}">
                <a16:creationId xmlns:a16="http://schemas.microsoft.com/office/drawing/2014/main" id="{90118C52-3FBE-4A69-A746-16D7D1ADF55E}"/>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85A5AB80-A3C5-4AB2-BE4C-A1DFF5D5052F}"/>
              </a:ext>
            </a:extLst>
          </p:cNvPr>
          <p:cNvSpPr>
            <a:spLocks noGrp="1"/>
          </p:cNvSpPr>
          <p:nvPr>
            <p:ph type="ftr" sz="quarter" idx="11"/>
          </p:nvPr>
        </p:nvSpPr>
        <p:spPr/>
        <p:txBody>
          <a:bodyPr/>
          <a:lstStyle/>
          <a:p>
            <a:r>
              <a:rPr lang="en-IN"/>
              <a:t>Dept. of  EEE, ACOE</a:t>
            </a:r>
          </a:p>
        </p:txBody>
      </p:sp>
      <p:pic>
        <p:nvPicPr>
          <p:cNvPr id="11" name="Content Placeholder 10" descr="Diagram&#10;&#10;Description automatically generated">
            <a:extLst>
              <a:ext uri="{FF2B5EF4-FFF2-40B4-BE49-F238E27FC236}">
                <a16:creationId xmlns:a16="http://schemas.microsoft.com/office/drawing/2014/main" id="{80893A96-0E8F-4F4E-8D59-475C492CD4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6427" y="2494722"/>
            <a:ext cx="8459146" cy="3897115"/>
          </a:xfrm>
        </p:spPr>
      </p:pic>
    </p:spTree>
    <p:extLst>
      <p:ext uri="{BB962C8B-B14F-4D97-AF65-F5344CB8AC3E}">
        <p14:creationId xmlns:p14="http://schemas.microsoft.com/office/powerpoint/2010/main" val="2571547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GB" b="1" dirty="0">
                <a:latin typeface="Cambria Math" panose="02040503050406030204" pitchFamily="18" charset="0"/>
                <a:ea typeface="Cambria Math" panose="02040503050406030204" pitchFamily="18" charset="0"/>
              </a:rPr>
              <a:t>Our Components In Project</a:t>
            </a:r>
            <a:endParaRPr lang="en-IN" b="1" dirty="0">
              <a:latin typeface="Cambria Math" panose="02040503050406030204" pitchFamily="18" charset="0"/>
              <a:ea typeface="Cambria Math" panose="02040503050406030204" pitchFamily="18" charset="0"/>
            </a:endParaRPr>
          </a:p>
        </p:txBody>
      </p:sp>
      <p:sp>
        <p:nvSpPr>
          <p:cNvPr id="5" name="Date Placeholder 4"/>
          <p:cNvSpPr>
            <a:spLocks noGrp="1"/>
          </p:cNvSpPr>
          <p:nvPr>
            <p:ph type="dt" sz="half" idx="10"/>
          </p:nvPr>
        </p:nvSpPr>
        <p:spPr/>
        <p:txBody>
          <a:bodyPr/>
          <a:lstStyle/>
          <a:p>
            <a:fld id="{F4E521E1-388D-4AA1-8C0E-222C4A8E7BF8}" type="datetime1">
              <a:rPr lang="en-IN" smtClean="0"/>
              <a:pPr/>
              <a:t>26-05-2022</a:t>
            </a:fld>
            <a:endParaRPr lang="en-IN"/>
          </a:p>
        </p:txBody>
      </p:sp>
      <p:sp>
        <p:nvSpPr>
          <p:cNvPr id="7" name="Footer Placeholder 6"/>
          <p:cNvSpPr>
            <a:spLocks noGrp="1"/>
          </p:cNvSpPr>
          <p:nvPr>
            <p:ph type="ftr" sz="quarter" idx="11"/>
          </p:nvPr>
        </p:nvSpPr>
        <p:spPr/>
        <p:txBody>
          <a:bodyPr/>
          <a:lstStyle/>
          <a:p>
            <a:r>
              <a:rPr lang="en-IN"/>
              <a:t>Dept. of  EEE, ACOE</a:t>
            </a:r>
          </a:p>
        </p:txBody>
      </p:sp>
      <p:pic>
        <p:nvPicPr>
          <p:cNvPr id="6" name="Picture 2">
            <a:extLst>
              <a:ext uri="{FF2B5EF4-FFF2-40B4-BE49-F238E27FC236}">
                <a16:creationId xmlns:a16="http://schemas.microsoft.com/office/drawing/2014/main" id="{5C7DA80C-AFB8-4D83-9A21-06B8F9F78D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878622" y="2900538"/>
            <a:ext cx="2075490" cy="155661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282EC37-EACB-4ECA-AD42-FBB454D5124F}"/>
              </a:ext>
            </a:extLst>
          </p:cNvPr>
          <p:cNvSpPr txBox="1"/>
          <p:nvPr/>
        </p:nvSpPr>
        <p:spPr>
          <a:xfrm>
            <a:off x="8925339" y="4820478"/>
            <a:ext cx="2435087" cy="646331"/>
          </a:xfrm>
          <a:prstGeom prst="rect">
            <a:avLst/>
          </a:prstGeom>
          <a:noFill/>
        </p:spPr>
        <p:txBody>
          <a:bodyPr wrap="square" rtlCol="0">
            <a:spAutoFit/>
          </a:bodyPr>
          <a:lstStyle/>
          <a:p>
            <a:r>
              <a:rPr lang="en-IN" dirty="0"/>
              <a:t>Arduino Uno Wi-Fi Rev2 Board</a:t>
            </a:r>
          </a:p>
        </p:txBody>
      </p:sp>
      <p:sp>
        <p:nvSpPr>
          <p:cNvPr id="4" name="TextBox 3">
            <a:extLst>
              <a:ext uri="{FF2B5EF4-FFF2-40B4-BE49-F238E27FC236}">
                <a16:creationId xmlns:a16="http://schemas.microsoft.com/office/drawing/2014/main" id="{DC906228-DEAD-480E-AFA1-EACA3D18940A}"/>
              </a:ext>
            </a:extLst>
          </p:cNvPr>
          <p:cNvSpPr txBox="1"/>
          <p:nvPr/>
        </p:nvSpPr>
        <p:spPr>
          <a:xfrm>
            <a:off x="1013791" y="2713383"/>
            <a:ext cx="7007087" cy="2031325"/>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b="0" i="0" dirty="0">
                <a:effectLst/>
                <a:latin typeface="Times New Roman" panose="02020603050405020304" pitchFamily="18" charset="0"/>
                <a:cs typeface="Times New Roman" panose="02020603050405020304" pitchFamily="18" charset="0"/>
              </a:rPr>
              <a:t>The </a:t>
            </a:r>
            <a:r>
              <a:rPr lang="en-IN" b="1" i="0" dirty="0">
                <a:effectLst/>
                <a:latin typeface="Times New Roman" panose="02020603050405020304" pitchFamily="18" charset="0"/>
                <a:cs typeface="Times New Roman" panose="02020603050405020304" pitchFamily="18" charset="0"/>
              </a:rPr>
              <a:t>Arduino Uno Wi-Fi Rev2</a:t>
            </a:r>
            <a:r>
              <a:rPr lang="en-IN" b="0" i="0" dirty="0">
                <a:effectLst/>
                <a:latin typeface="Times New Roman" panose="02020603050405020304" pitchFamily="18" charset="0"/>
                <a:cs typeface="Times New Roman" panose="02020603050405020304" pitchFamily="18" charset="0"/>
              </a:rPr>
              <a:t> is an </a:t>
            </a:r>
            <a:r>
              <a:rPr lang="en-IN" b="0" i="0" strike="noStrike" dirty="0">
                <a:effectLst/>
                <a:latin typeface="Times New Roman" panose="02020603050405020304" pitchFamily="18" charset="0"/>
                <a:cs typeface="Times New Roman" panose="02020603050405020304" pitchFamily="18" charset="0"/>
                <a:hlinkClick r:id="rId3" tooltip="Open-source">
                  <a:extLst>
                    <a:ext uri="{A12FA001-AC4F-418D-AE19-62706E023703}">
                      <ahyp:hlinkClr xmlns:ahyp="http://schemas.microsoft.com/office/drawing/2018/hyperlinkcolor" val="tx"/>
                    </a:ext>
                  </a:extLst>
                </a:hlinkClick>
              </a:rPr>
              <a:t>open-source</a:t>
            </a:r>
            <a:r>
              <a:rPr lang="en-IN" b="0" i="0" dirty="0">
                <a:effectLst/>
                <a:latin typeface="Times New Roman" panose="02020603050405020304" pitchFamily="18" charset="0"/>
                <a:cs typeface="Times New Roman" panose="02020603050405020304" pitchFamily="18" charset="0"/>
              </a:rPr>
              <a:t> </a:t>
            </a:r>
            <a:r>
              <a:rPr lang="en-IN" b="0" i="0" strike="noStrike" dirty="0">
                <a:effectLst/>
                <a:latin typeface="Times New Roman" panose="02020603050405020304" pitchFamily="18" charset="0"/>
                <a:cs typeface="Times New Roman" panose="02020603050405020304" pitchFamily="18" charset="0"/>
                <a:hlinkClick r:id="rId4" tooltip="Microcontroller board">
                  <a:extLst>
                    <a:ext uri="{A12FA001-AC4F-418D-AE19-62706E023703}">
                      <ahyp:hlinkClr xmlns:ahyp="http://schemas.microsoft.com/office/drawing/2018/hyperlinkcolor" val="tx"/>
                    </a:ext>
                  </a:extLst>
                </a:hlinkClick>
              </a:rPr>
              <a:t>microcontroller board</a:t>
            </a:r>
            <a:r>
              <a:rPr lang="en-IN" b="0" i="0" strike="noStrike" dirty="0">
                <a:effectLst/>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Using this board we can control IOT devices with Wi-Fi.</a:t>
            </a:r>
          </a:p>
          <a:p>
            <a:pPr marL="285750" indent="-285750">
              <a:lnSpc>
                <a:spcPct val="150000"/>
              </a:lnSpc>
              <a:buFont typeface="Wingdings" panose="05000000000000000000" pitchFamily="2" charset="2"/>
              <a:buChar char="Ø"/>
            </a:pPr>
            <a:r>
              <a:rPr lang="en-IN" b="0" i="0" strike="noStrike" dirty="0">
                <a:effectLst/>
                <a:latin typeface="Times New Roman" panose="02020603050405020304" pitchFamily="18" charset="0"/>
                <a:cs typeface="Times New Roman" panose="02020603050405020304" pitchFamily="18" charset="0"/>
              </a:rPr>
              <a:t>We can </a:t>
            </a:r>
            <a:r>
              <a:rPr lang="en-IN" dirty="0">
                <a:latin typeface="Times New Roman" panose="02020603050405020304" pitchFamily="18" charset="0"/>
                <a:cs typeface="Times New Roman" panose="02020603050405020304" pitchFamily="18" charset="0"/>
              </a:rPr>
              <a:t>program this board in Arduino IDE.</a:t>
            </a:r>
            <a:endParaRPr lang="en-IN" b="0" i="0" strike="noStrike"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3265573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B0DA-D2B0-4B45-9BD8-A9CCC8BE538C}"/>
              </a:ext>
            </a:extLst>
          </p:cNvPr>
          <p:cNvSpPr>
            <a:spLocks noGrp="1"/>
          </p:cNvSpPr>
          <p:nvPr>
            <p:ph type="title"/>
          </p:nvPr>
        </p:nvSpPr>
        <p:spPr>
          <a:xfrm>
            <a:off x="1154954" y="973668"/>
            <a:ext cx="8761413" cy="706964"/>
          </a:xfrm>
        </p:spPr>
        <p:txBody>
          <a:bodyPr vert="horz" lIns="91440" tIns="45720" rIns="91440" bIns="45720" rtlCol="0" anchor="ctr">
            <a:normAutofit/>
          </a:bodyPr>
          <a:lstStyle/>
          <a:p>
            <a:pPr algn="ctr"/>
            <a:r>
              <a:rPr lang="en-US" b="0" i="0" kern="1200" dirty="0">
                <a:solidFill>
                  <a:srgbClr val="EBEBEB"/>
                </a:solidFill>
                <a:latin typeface="+mj-lt"/>
                <a:ea typeface="+mj-ea"/>
                <a:cs typeface="+mj-cs"/>
              </a:rPr>
              <a:t>Servo Motor</a:t>
            </a:r>
          </a:p>
        </p:txBody>
      </p:sp>
      <p:sp>
        <p:nvSpPr>
          <p:cNvPr id="7" name="TextBox 6">
            <a:extLst>
              <a:ext uri="{FF2B5EF4-FFF2-40B4-BE49-F238E27FC236}">
                <a16:creationId xmlns:a16="http://schemas.microsoft.com/office/drawing/2014/main" id="{FF60FFC6-8E49-4DB5-8285-B41B31A4DEE6}"/>
              </a:ext>
            </a:extLst>
          </p:cNvPr>
          <p:cNvSpPr txBox="1"/>
          <p:nvPr/>
        </p:nvSpPr>
        <p:spPr>
          <a:xfrm>
            <a:off x="1154954" y="2603500"/>
            <a:ext cx="6397313" cy="3416300"/>
          </a:xfrm>
          <a:prstGeom prst="rect">
            <a:avLst/>
          </a:prstGeom>
        </p:spPr>
        <p:txBody>
          <a:bodyPr vert="horz" lIns="91440" tIns="45720" rIns="91440" bIns="45720" rtlCol="0" anchor="ctr">
            <a:normAutofit/>
          </a:bodyPr>
          <a:lstStyle/>
          <a:p>
            <a:pPr marL="285750" indent="-285750">
              <a:spcBef>
                <a:spcPts val="1000"/>
              </a:spcBef>
              <a:buClr>
                <a:schemeClr val="accent1"/>
              </a:buClr>
              <a:buSzPct val="80000"/>
              <a:buFont typeface="Wingdings 3" charset="2"/>
              <a:buChar char=""/>
            </a:pPr>
            <a:r>
              <a:rPr lang="en-US" dirty="0">
                <a:solidFill>
                  <a:schemeClr val="tx1">
                    <a:lumMod val="75000"/>
                    <a:lumOff val="25000"/>
                  </a:schemeClr>
                </a:solidFill>
                <a:effectLst/>
                <a:latin typeface="Times New Roman" panose="02020603050405020304" pitchFamily="18" charset="0"/>
                <a:cs typeface="Times New Roman" panose="02020603050405020304" pitchFamily="18" charset="0"/>
              </a:rPr>
              <a:t>A servo motor is a rotary actuator that allows for precise control of the angular position.</a:t>
            </a:r>
          </a:p>
          <a:p>
            <a:pPr marL="285750" indent="-285750">
              <a:spcBef>
                <a:spcPts val="1000"/>
              </a:spcBef>
              <a:buClr>
                <a:schemeClr val="accent1"/>
              </a:buClr>
              <a:buSzPct val="80000"/>
              <a:buFont typeface="Wingdings 3" charset="2"/>
              <a:buChar char=""/>
            </a:pPr>
            <a:r>
              <a:rPr lang="en-US" dirty="0">
                <a:solidFill>
                  <a:schemeClr val="tx1">
                    <a:lumMod val="75000"/>
                    <a:lumOff val="25000"/>
                  </a:schemeClr>
                </a:solidFill>
                <a:effectLst/>
                <a:latin typeface="Times New Roman" panose="02020603050405020304" pitchFamily="18" charset="0"/>
                <a:cs typeface="Times New Roman" panose="02020603050405020304" pitchFamily="18" charset="0"/>
              </a:rPr>
              <a:t>It consists of a motor coupled to a sensor for position feedback. </a:t>
            </a:r>
            <a:endParaRPr 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pic>
        <p:nvPicPr>
          <p:cNvPr id="6" name="Picture 8" descr="2442">
            <a:extLst>
              <a:ext uri="{FF2B5EF4-FFF2-40B4-BE49-F238E27FC236}">
                <a16:creationId xmlns:a16="http://schemas.microsoft.com/office/drawing/2014/main" id="{AC542FDE-88D5-4FB2-AA18-488AF9A44A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027013" y="2775951"/>
            <a:ext cx="3067163" cy="3067163"/>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788850FF-6C65-40F4-8D28-A049C3298420}"/>
              </a:ext>
            </a:extLst>
          </p:cNvPr>
          <p:cNvSpPr>
            <a:spLocks noGrp="1"/>
          </p:cNvSpPr>
          <p:nvPr>
            <p:ph type="ftr" sz="quarter" idx="11"/>
          </p:nvPr>
        </p:nvSpPr>
        <p:spPr>
          <a:xfrm>
            <a:off x="561110" y="6391838"/>
            <a:ext cx="3859795" cy="304801"/>
          </a:xfrm>
        </p:spPr>
        <p:txBody>
          <a:bodyPr vert="horz" lIns="91440" tIns="45720" rIns="91440" bIns="45720" rtlCol="0" anchor="ctr">
            <a:normAutofit/>
          </a:bodyPr>
          <a:lstStyle/>
          <a:p>
            <a:pPr defTabSz="914400">
              <a:spcAft>
                <a:spcPts val="600"/>
              </a:spcAft>
            </a:pPr>
            <a:r>
              <a:rPr lang="en-US" b="1" i="0" kern="1200">
                <a:solidFill>
                  <a:schemeClr val="accent1"/>
                </a:solidFill>
                <a:latin typeface="+mn-lt"/>
                <a:ea typeface="+mn-ea"/>
                <a:cs typeface="+mn-cs"/>
              </a:rPr>
              <a:t>Dept. of  EEE, ACOE</a:t>
            </a:r>
          </a:p>
        </p:txBody>
      </p:sp>
      <p:sp>
        <p:nvSpPr>
          <p:cNvPr id="4" name="Date Placeholder 3">
            <a:extLst>
              <a:ext uri="{FF2B5EF4-FFF2-40B4-BE49-F238E27FC236}">
                <a16:creationId xmlns:a16="http://schemas.microsoft.com/office/drawing/2014/main" id="{3E53E04E-C2BA-4EEF-8459-14E85BE2EC3A}"/>
              </a:ext>
            </a:extLst>
          </p:cNvPr>
          <p:cNvSpPr>
            <a:spLocks noGrp="1"/>
          </p:cNvSpPr>
          <p:nvPr>
            <p:ph type="dt" sz="half" idx="10"/>
          </p:nvPr>
        </p:nvSpPr>
        <p:spPr>
          <a:xfrm>
            <a:off x="10653104" y="6391838"/>
            <a:ext cx="990599" cy="304799"/>
          </a:xfrm>
        </p:spPr>
        <p:txBody>
          <a:bodyPr vert="horz" lIns="91440" tIns="45720" rIns="91440" bIns="45720" rtlCol="0" anchor="ctr">
            <a:normAutofit/>
          </a:bodyPr>
          <a:lstStyle/>
          <a:p>
            <a:pPr defTabSz="914400">
              <a:spcAft>
                <a:spcPts val="600"/>
              </a:spcAft>
            </a:pPr>
            <a:fld id="{8B4522AF-BFF1-4162-BF94-3A76AEE64A8D}" type="datetime1">
              <a:rPr lang="en-US" smtClean="0"/>
              <a:pPr defTabSz="914400">
                <a:spcAft>
                  <a:spcPts val="600"/>
                </a:spcAft>
              </a:pPr>
              <a:t>5/26/2022</a:t>
            </a:fld>
            <a:endParaRPr lang="en-US"/>
          </a:p>
        </p:txBody>
      </p:sp>
    </p:spTree>
    <p:extLst>
      <p:ext uri="{BB962C8B-B14F-4D97-AF65-F5344CB8AC3E}">
        <p14:creationId xmlns:p14="http://schemas.microsoft.com/office/powerpoint/2010/main" val="4229272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1F3E-4D2F-4EC0-A0AE-BD6CE2C1B32C}"/>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Motor Driver Shield</a:t>
            </a:r>
          </a:p>
        </p:txBody>
      </p:sp>
      <p:sp>
        <p:nvSpPr>
          <p:cNvPr id="4" name="Date Placeholder 3">
            <a:extLst>
              <a:ext uri="{FF2B5EF4-FFF2-40B4-BE49-F238E27FC236}">
                <a16:creationId xmlns:a16="http://schemas.microsoft.com/office/drawing/2014/main" id="{0D5EC99A-CCB8-46E5-BF94-467ACC03C284}"/>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B9BF3578-C33F-425A-85DD-482D20FF4795}"/>
              </a:ext>
            </a:extLst>
          </p:cNvPr>
          <p:cNvSpPr>
            <a:spLocks noGrp="1"/>
          </p:cNvSpPr>
          <p:nvPr>
            <p:ph type="ftr" sz="quarter" idx="11"/>
          </p:nvPr>
        </p:nvSpPr>
        <p:spPr/>
        <p:txBody>
          <a:bodyPr/>
          <a:lstStyle/>
          <a:p>
            <a:r>
              <a:rPr lang="en-IN"/>
              <a:t>Dept. of  EEE, ACOE</a:t>
            </a:r>
          </a:p>
        </p:txBody>
      </p:sp>
      <p:pic>
        <p:nvPicPr>
          <p:cNvPr id="6" name="Picture 4" descr="Motor/Stepper/Servo Shield (Version 2) | Adafruit Shield Compatibility  Guide | Adafruit Learning System">
            <a:extLst>
              <a:ext uri="{FF2B5EF4-FFF2-40B4-BE49-F238E27FC236}">
                <a16:creationId xmlns:a16="http://schemas.microsoft.com/office/drawing/2014/main" id="{D658C03C-FC5E-4E89-8618-C5F3A7C431D1}"/>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8329697" y="3046557"/>
            <a:ext cx="2323407" cy="178723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2494438-1CDF-4370-AF4A-2E85BBED8560}"/>
              </a:ext>
            </a:extLst>
          </p:cNvPr>
          <p:cNvSpPr txBox="1"/>
          <p:nvPr/>
        </p:nvSpPr>
        <p:spPr>
          <a:xfrm>
            <a:off x="1076325" y="2771775"/>
            <a:ext cx="6505575" cy="212006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b="0" i="0" dirty="0">
                <a:solidFill>
                  <a:srgbClr val="202124"/>
                </a:solidFill>
                <a:effectLst/>
                <a:latin typeface="Times New Roman" panose="02020603050405020304" pitchFamily="18" charset="0"/>
                <a:cs typeface="Times New Roman" panose="02020603050405020304" pitchFamily="18" charset="0"/>
              </a:rPr>
              <a:t>The L293D Motor driver shield is one of the best way for </a:t>
            </a:r>
            <a:r>
              <a:rPr lang="en-IN" b="1" i="0" dirty="0">
                <a:solidFill>
                  <a:srgbClr val="202124"/>
                </a:solidFill>
                <a:effectLst/>
                <a:latin typeface="Times New Roman" panose="02020603050405020304" pitchFamily="18" charset="0"/>
                <a:cs typeface="Times New Roman" panose="02020603050405020304" pitchFamily="18" charset="0"/>
              </a:rPr>
              <a:t>controlling DC, Servo and Stepper motors</a:t>
            </a:r>
          </a:p>
          <a:p>
            <a:pPr marL="285750" indent="-285750">
              <a:lnSpc>
                <a:spcPct val="150000"/>
              </a:lnSpc>
              <a:buFont typeface="Wingdings" panose="05000000000000000000" pitchFamily="2" charset="2"/>
              <a:buChar char="Ø"/>
            </a:pPr>
            <a:r>
              <a:rPr lang="en-IN" b="0" i="0" dirty="0">
                <a:solidFill>
                  <a:srgbClr val="000000"/>
                </a:solidFill>
                <a:effectLst/>
                <a:latin typeface="Times New Roman" panose="02020603050405020304" pitchFamily="18" charset="0"/>
                <a:cs typeface="Times New Roman" panose="02020603050405020304" pitchFamily="18" charset="0"/>
              </a:rPr>
              <a:t>L293D shield is a driver board based on L293 IC, which can drive 4 DC motors and 2 stepper or Servo motors at the same time.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048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38CE9-5E19-4696-A3C8-9E75073A5DD7}"/>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Rechargeable Battery</a:t>
            </a:r>
          </a:p>
        </p:txBody>
      </p:sp>
      <p:sp>
        <p:nvSpPr>
          <p:cNvPr id="4" name="Date Placeholder 3">
            <a:extLst>
              <a:ext uri="{FF2B5EF4-FFF2-40B4-BE49-F238E27FC236}">
                <a16:creationId xmlns:a16="http://schemas.microsoft.com/office/drawing/2014/main" id="{04D9AF66-99E5-49F2-8F53-7AFBDDCA6FAC}"/>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384A5D8F-0625-46BD-B161-B44AD7646105}"/>
              </a:ext>
            </a:extLst>
          </p:cNvPr>
          <p:cNvSpPr>
            <a:spLocks noGrp="1"/>
          </p:cNvSpPr>
          <p:nvPr>
            <p:ph type="ftr" sz="quarter" idx="11"/>
          </p:nvPr>
        </p:nvSpPr>
        <p:spPr/>
        <p:txBody>
          <a:bodyPr/>
          <a:lstStyle/>
          <a:p>
            <a:r>
              <a:rPr lang="en-IN"/>
              <a:t>Dept. of  EEE, ACOE</a:t>
            </a:r>
          </a:p>
        </p:txBody>
      </p:sp>
      <p:pic>
        <p:nvPicPr>
          <p:cNvPr id="6" name="Content Placeholder 5" descr="Lithium Polymer | Battery | Orange 5200mah 4S 40C (14.8V) Lithium Polymer Battery Pack (Lipo) | Robu.in">
            <a:extLst>
              <a:ext uri="{FF2B5EF4-FFF2-40B4-BE49-F238E27FC236}">
                <a16:creationId xmlns:a16="http://schemas.microsoft.com/office/drawing/2014/main" id="{B37C93C1-3FDD-422D-9D31-AF3EACC851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44806" y="2863850"/>
            <a:ext cx="1581150" cy="19240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3E5FF3B-6A78-4B12-9543-798A6361E915}"/>
              </a:ext>
            </a:extLst>
          </p:cNvPr>
          <p:cNvSpPr txBox="1"/>
          <p:nvPr/>
        </p:nvSpPr>
        <p:spPr>
          <a:xfrm>
            <a:off x="1154954" y="2752725"/>
            <a:ext cx="7055596" cy="1615827"/>
          </a:xfrm>
          <a:prstGeom prst="rect">
            <a:avLst/>
          </a:prstGeom>
          <a:noFill/>
        </p:spPr>
        <p:txBody>
          <a:bodyPr wrap="square" rtlCol="0">
            <a:spAutoFit/>
          </a:bodyPr>
          <a:lstStyle/>
          <a:p>
            <a:pPr marL="285750" indent="-285750" algn="l">
              <a:lnSpc>
                <a:spcPct val="150000"/>
              </a:lnSpc>
              <a:buFont typeface="Wingdings" panose="05000000000000000000" pitchFamily="2" charset="2"/>
              <a:buChar char="Ø"/>
            </a:pPr>
            <a:r>
              <a:rPr lang="en-IN" i="0" dirty="0">
                <a:solidFill>
                  <a:srgbClr val="202124"/>
                </a:solidFill>
                <a:effectLst/>
                <a:latin typeface="Times New Roman" panose="02020603050405020304" pitchFamily="18" charset="0"/>
                <a:cs typeface="Times New Roman" panose="02020603050405020304" pitchFamily="18" charset="0"/>
              </a:rPr>
              <a:t>A lithium-polymer battery (LiPo) is a rechargeable battery.</a:t>
            </a:r>
          </a:p>
          <a:p>
            <a:pPr marL="285750" indent="-285750" algn="l">
              <a:lnSpc>
                <a:spcPct val="150000"/>
              </a:lnSpc>
              <a:buFont typeface="Wingdings" panose="05000000000000000000" pitchFamily="2" charset="2"/>
              <a:buChar char="Ø"/>
            </a:pPr>
            <a:r>
              <a:rPr lang="en-IN" b="0" i="0" dirty="0">
                <a:solidFill>
                  <a:srgbClr val="202124"/>
                </a:solidFill>
                <a:effectLst/>
                <a:latin typeface="Times New Roman" panose="02020603050405020304" pitchFamily="18" charset="0"/>
                <a:cs typeface="Times New Roman" panose="02020603050405020304" pitchFamily="18" charset="0"/>
              </a:rPr>
              <a:t> LiPo, uses solid polymer for the electrolyte and lithium for one of the electrodes.</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2604242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23D82-B381-4B32-86F7-1A710EFB0E5A}"/>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Micro Gear Motor</a:t>
            </a:r>
          </a:p>
        </p:txBody>
      </p:sp>
      <p:sp>
        <p:nvSpPr>
          <p:cNvPr id="4" name="Date Placeholder 3">
            <a:extLst>
              <a:ext uri="{FF2B5EF4-FFF2-40B4-BE49-F238E27FC236}">
                <a16:creationId xmlns:a16="http://schemas.microsoft.com/office/drawing/2014/main" id="{E1CF432F-BDE9-440B-A288-25DD6E17989D}"/>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25689F56-74D7-4892-93C3-57C0986EADF0}"/>
              </a:ext>
            </a:extLst>
          </p:cNvPr>
          <p:cNvSpPr>
            <a:spLocks noGrp="1"/>
          </p:cNvSpPr>
          <p:nvPr>
            <p:ph type="ftr" sz="quarter" idx="11"/>
          </p:nvPr>
        </p:nvSpPr>
        <p:spPr/>
        <p:txBody>
          <a:bodyPr/>
          <a:lstStyle/>
          <a:p>
            <a:r>
              <a:rPr lang="en-IN"/>
              <a:t>Dept. of  EEE, ACOE</a:t>
            </a:r>
          </a:p>
        </p:txBody>
      </p:sp>
      <p:pic>
        <p:nvPicPr>
          <p:cNvPr id="6" name="Picture 6" descr="Micro Metal DC Gear Motor 6V 300RPM JGA12-N20 Philippines - Makerlab  Electronics">
            <a:extLst>
              <a:ext uri="{FF2B5EF4-FFF2-40B4-BE49-F238E27FC236}">
                <a16:creationId xmlns:a16="http://schemas.microsoft.com/office/drawing/2014/main" id="{6F68169E-6E8D-4C07-AC2A-CF6EE661D702}"/>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8397428" y="2947267"/>
            <a:ext cx="2323407" cy="217793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42EC118-D5DB-4149-B10A-6B004899C542}"/>
              </a:ext>
            </a:extLst>
          </p:cNvPr>
          <p:cNvSpPr txBox="1"/>
          <p:nvPr/>
        </p:nvSpPr>
        <p:spPr>
          <a:xfrm>
            <a:off x="1154954" y="2714625"/>
            <a:ext cx="6103096" cy="170456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b="0" i="0" dirty="0">
                <a:solidFill>
                  <a:srgbClr val="333E48"/>
                </a:solidFill>
                <a:effectLst/>
                <a:latin typeface="Times New Roman" panose="02020603050405020304" pitchFamily="18" charset="0"/>
                <a:cs typeface="Times New Roman" panose="02020603050405020304" pitchFamily="18" charset="0"/>
              </a:rPr>
              <a:t>The Micro Gear 12V 100RPM DC Motor (High Torque) is lightweight, high torque, and low RPM motor. </a:t>
            </a:r>
          </a:p>
          <a:p>
            <a:pPr marL="285750" indent="-285750">
              <a:lnSpc>
                <a:spcPct val="150000"/>
              </a:lnSpc>
              <a:buFont typeface="Wingdings" panose="05000000000000000000" pitchFamily="2" charset="2"/>
              <a:buChar char="Ø"/>
            </a:pPr>
            <a:r>
              <a:rPr lang="en-IN" b="0" i="0" dirty="0">
                <a:solidFill>
                  <a:srgbClr val="333E48"/>
                </a:solidFill>
                <a:effectLst/>
                <a:latin typeface="Times New Roman" panose="02020603050405020304" pitchFamily="18" charset="0"/>
                <a:cs typeface="Times New Roman" panose="02020603050405020304" pitchFamily="18" charset="0"/>
              </a:rPr>
              <a:t>It is equipped with gearbox assembly so as to increase the torque of the motor.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800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967E-DB89-42AF-A3C2-D38C6B45E69E}"/>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Camera Setup and Robots</a:t>
            </a:r>
          </a:p>
        </p:txBody>
      </p:sp>
      <p:pic>
        <p:nvPicPr>
          <p:cNvPr id="7" name="Content Placeholder 6" descr="A picture containing wall, indoor, floor, room&#10;&#10;Description automatically generated">
            <a:extLst>
              <a:ext uri="{FF2B5EF4-FFF2-40B4-BE49-F238E27FC236}">
                <a16:creationId xmlns:a16="http://schemas.microsoft.com/office/drawing/2014/main" id="{2801D2E7-5078-4F3F-91C9-A1A61893900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49340" y="2544416"/>
            <a:ext cx="3265271" cy="2683933"/>
          </a:xfrm>
        </p:spPr>
      </p:pic>
      <p:sp>
        <p:nvSpPr>
          <p:cNvPr id="4" name="Date Placeholder 3">
            <a:extLst>
              <a:ext uri="{FF2B5EF4-FFF2-40B4-BE49-F238E27FC236}">
                <a16:creationId xmlns:a16="http://schemas.microsoft.com/office/drawing/2014/main" id="{6402A44A-C857-4990-AE0D-566589DD718C}"/>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DFA5C545-13CF-4264-BB2F-3591BE813856}"/>
              </a:ext>
            </a:extLst>
          </p:cNvPr>
          <p:cNvSpPr>
            <a:spLocks noGrp="1"/>
          </p:cNvSpPr>
          <p:nvPr>
            <p:ph type="ftr" sz="quarter" idx="11"/>
          </p:nvPr>
        </p:nvSpPr>
        <p:spPr/>
        <p:txBody>
          <a:bodyPr/>
          <a:lstStyle/>
          <a:p>
            <a:r>
              <a:rPr lang="en-IN"/>
              <a:t>Dept. of  EEE, ACOE</a:t>
            </a:r>
          </a:p>
        </p:txBody>
      </p:sp>
      <p:pic>
        <p:nvPicPr>
          <p:cNvPr id="9" name="Picture 8" descr="A picture containing table, floor, indoor&#10;&#10;Description automatically generated">
            <a:extLst>
              <a:ext uri="{FF2B5EF4-FFF2-40B4-BE49-F238E27FC236}">
                <a16:creationId xmlns:a16="http://schemas.microsoft.com/office/drawing/2014/main" id="{B68510FF-C280-4F8A-941B-A7CBB88921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8404" y="2532669"/>
            <a:ext cx="3200834" cy="2807183"/>
          </a:xfrm>
          <a:prstGeom prst="rect">
            <a:avLst/>
          </a:prstGeom>
        </p:spPr>
      </p:pic>
      <p:sp>
        <p:nvSpPr>
          <p:cNvPr id="10" name="TextBox 9">
            <a:extLst>
              <a:ext uri="{FF2B5EF4-FFF2-40B4-BE49-F238E27FC236}">
                <a16:creationId xmlns:a16="http://schemas.microsoft.com/office/drawing/2014/main" id="{60035A81-B7BB-45BA-AB7C-F449E61A7790}"/>
              </a:ext>
            </a:extLst>
          </p:cNvPr>
          <p:cNvSpPr txBox="1"/>
          <p:nvPr/>
        </p:nvSpPr>
        <p:spPr>
          <a:xfrm>
            <a:off x="2692423" y="5570458"/>
            <a:ext cx="3011556"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Camera Setup</a:t>
            </a:r>
          </a:p>
        </p:txBody>
      </p:sp>
      <p:sp>
        <p:nvSpPr>
          <p:cNvPr id="11" name="TextBox 10">
            <a:extLst>
              <a:ext uri="{FF2B5EF4-FFF2-40B4-BE49-F238E27FC236}">
                <a16:creationId xmlns:a16="http://schemas.microsoft.com/office/drawing/2014/main" id="{EAA8B5F2-F031-4ADF-83AF-00BAB8158A31}"/>
              </a:ext>
            </a:extLst>
          </p:cNvPr>
          <p:cNvSpPr txBox="1"/>
          <p:nvPr/>
        </p:nvSpPr>
        <p:spPr>
          <a:xfrm>
            <a:off x="8256117" y="5570458"/>
            <a:ext cx="2892286"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Robot</a:t>
            </a:r>
          </a:p>
        </p:txBody>
      </p:sp>
    </p:spTree>
    <p:extLst>
      <p:ext uri="{BB962C8B-B14F-4D97-AF65-F5344CB8AC3E}">
        <p14:creationId xmlns:p14="http://schemas.microsoft.com/office/powerpoint/2010/main" val="3519098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itchFamily="18" charset="0"/>
                <a:ea typeface="Cambria Math" pitchFamily="18" charset="0"/>
                <a:cs typeface="Times New Roman" pitchFamily="18" charset="0"/>
              </a:rPr>
              <a:t>Working</a:t>
            </a:r>
            <a:br>
              <a:rPr lang="en-US" dirty="0">
                <a:latin typeface="Cambria Math" pitchFamily="18" charset="0"/>
                <a:ea typeface="Cambria Math" pitchFamily="18" charset="0"/>
              </a:rPr>
            </a:br>
            <a:endParaRPr lang="en-US" dirty="0"/>
          </a:p>
        </p:txBody>
      </p:sp>
      <p:sp>
        <p:nvSpPr>
          <p:cNvPr id="3" name="Content Placeholder 2"/>
          <p:cNvSpPr>
            <a:spLocks noGrp="1"/>
          </p:cNvSpPr>
          <p:nvPr>
            <p:ph idx="1"/>
          </p:nvPr>
        </p:nvSpPr>
        <p:spPr>
          <a:xfrm>
            <a:off x="462623" y="2612572"/>
            <a:ext cx="7675537" cy="3028406"/>
          </a:xfrm>
        </p:spPr>
        <p:txBody>
          <a:bodyPr>
            <a:normAutofit fontScale="25000" lnSpcReduction="20000"/>
          </a:bodyPr>
          <a:lstStyle/>
          <a:p>
            <a:pPr>
              <a:lnSpc>
                <a:spcPct val="170000"/>
              </a:lnSpc>
            </a:pPr>
            <a:r>
              <a:rPr lang="en-IN" sz="7200" dirty="0">
                <a:solidFill>
                  <a:schemeClr val="tx1"/>
                </a:solidFill>
                <a:latin typeface="Cambria Math" pitchFamily="18" charset="0"/>
                <a:ea typeface="Cambria Math" pitchFamily="18" charset="0"/>
              </a:rPr>
              <a:t>In this project we have used python script with open CV to track the robot with colour and used mathematics formulas to triangulate the colour boxes on the robot to find the position and orientation of the robot.</a:t>
            </a:r>
          </a:p>
          <a:p>
            <a:pPr>
              <a:lnSpc>
                <a:spcPct val="170000"/>
              </a:lnSpc>
            </a:pPr>
            <a:r>
              <a:rPr lang="en-IN" sz="7200" dirty="0">
                <a:solidFill>
                  <a:schemeClr val="tx1"/>
                </a:solidFill>
                <a:latin typeface="Cambria Math" pitchFamily="18" charset="0"/>
                <a:ea typeface="Cambria Math" pitchFamily="18" charset="0"/>
              </a:rPr>
              <a:t> There after we have used the python requests module to send the respective commands to navigate the robot from the pc.</a:t>
            </a:r>
          </a:p>
          <a:p>
            <a:pPr>
              <a:lnSpc>
                <a:spcPct val="170000"/>
              </a:lnSpc>
            </a:pPr>
            <a:r>
              <a:rPr lang="en-IN" sz="7200" dirty="0">
                <a:solidFill>
                  <a:schemeClr val="tx1"/>
                </a:solidFill>
                <a:latin typeface="Cambria Math" pitchFamily="18" charset="0"/>
                <a:ea typeface="Cambria Math" pitchFamily="18" charset="0"/>
              </a:rPr>
              <a:t> Single camera has been used to track two robots. The pc will send the commands to Robot through WIFI.</a:t>
            </a:r>
            <a:endParaRPr lang="en-US" sz="7200" dirty="0">
              <a:solidFill>
                <a:schemeClr val="tx1"/>
              </a:solidFill>
              <a:latin typeface="Cambria Math" pitchFamily="18" charset="0"/>
              <a:ea typeface="Cambria Math" pitchFamily="18" charset="0"/>
            </a:endParaRPr>
          </a:p>
          <a:p>
            <a:endParaRPr lang="en-US" dirty="0"/>
          </a:p>
        </p:txBody>
      </p:sp>
      <p:sp>
        <p:nvSpPr>
          <p:cNvPr id="4" name="Date Placeholder 3"/>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p:cNvSpPr>
            <a:spLocks noGrp="1"/>
          </p:cNvSpPr>
          <p:nvPr>
            <p:ph type="ftr" sz="quarter" idx="11"/>
          </p:nvPr>
        </p:nvSpPr>
        <p:spPr/>
        <p:txBody>
          <a:bodyPr/>
          <a:lstStyle/>
          <a:p>
            <a:r>
              <a:rPr lang="en-IN"/>
              <a:t>Dept. of  EEE, ACOE</a:t>
            </a:r>
          </a:p>
        </p:txBody>
      </p:sp>
      <p:pic>
        <p:nvPicPr>
          <p:cNvPr id="1026" name="Picture 2" descr="Introduction - OpenCV Tutorial C++"/>
          <p:cNvPicPr>
            <a:picLocks noChangeAspect="1" noChangeArrowheads="1"/>
          </p:cNvPicPr>
          <p:nvPr/>
        </p:nvPicPr>
        <p:blipFill>
          <a:blip r:embed="rId2" cstate="print"/>
          <a:srcRect/>
          <a:stretch>
            <a:fillRect/>
          </a:stretch>
        </p:blipFill>
        <p:spPr bwMode="auto">
          <a:xfrm>
            <a:off x="9915638" y="2299063"/>
            <a:ext cx="1135448" cy="1002803"/>
          </a:xfrm>
          <a:prstGeom prst="rect">
            <a:avLst/>
          </a:prstGeom>
          <a:noFill/>
        </p:spPr>
      </p:pic>
      <p:pic>
        <p:nvPicPr>
          <p:cNvPr id="1028" name="Picture 4" descr="Python (programming language) - Wikipedia"/>
          <p:cNvPicPr>
            <a:picLocks noChangeAspect="1" noChangeArrowheads="1"/>
          </p:cNvPicPr>
          <p:nvPr/>
        </p:nvPicPr>
        <p:blipFill>
          <a:blip r:embed="rId3" cstate="print"/>
          <a:srcRect/>
          <a:stretch>
            <a:fillRect/>
          </a:stretch>
        </p:blipFill>
        <p:spPr bwMode="auto">
          <a:xfrm>
            <a:off x="8543108" y="3691436"/>
            <a:ext cx="600891" cy="600891"/>
          </a:xfrm>
          <a:prstGeom prst="rect">
            <a:avLst/>
          </a:prstGeom>
          <a:noFill/>
        </p:spPr>
      </p:pic>
      <p:sp>
        <p:nvSpPr>
          <p:cNvPr id="1030" name="AutoShape 6" descr="Object Detection and Tracking with OpenCV and Python - bluetin.io"/>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FF653-8F56-434D-842F-2A90854E475C}"/>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Open CV</a:t>
            </a:r>
          </a:p>
        </p:txBody>
      </p:sp>
      <p:sp>
        <p:nvSpPr>
          <p:cNvPr id="3" name="Content Placeholder 2">
            <a:extLst>
              <a:ext uri="{FF2B5EF4-FFF2-40B4-BE49-F238E27FC236}">
                <a16:creationId xmlns:a16="http://schemas.microsoft.com/office/drawing/2014/main" id="{ECFBD032-6F13-4ABB-B78F-64CB4367D638}"/>
              </a:ext>
            </a:extLst>
          </p:cNvPr>
          <p:cNvSpPr>
            <a:spLocks noGrp="1"/>
          </p:cNvSpPr>
          <p:nvPr>
            <p:ph idx="1"/>
          </p:nvPr>
        </p:nvSpPr>
        <p:spPr/>
        <p:txBody>
          <a:bodyPr/>
          <a:lstStyle/>
          <a:p>
            <a:r>
              <a:rPr lang="en-IN" b="1" i="0" dirty="0">
                <a:solidFill>
                  <a:schemeClr val="tx1"/>
                </a:solidFill>
                <a:effectLst/>
                <a:latin typeface="Times New Roman" panose="02020603050405020304" pitchFamily="18" charset="0"/>
                <a:cs typeface="Times New Roman" panose="02020603050405020304" pitchFamily="18" charset="0"/>
              </a:rPr>
              <a:t>OpenCV</a:t>
            </a:r>
            <a:r>
              <a:rPr lang="en-IN" b="0" i="0" dirty="0">
                <a:solidFill>
                  <a:schemeClr val="tx1"/>
                </a:solidFill>
                <a:effectLst/>
                <a:latin typeface="Times New Roman" panose="02020603050405020304" pitchFamily="18" charset="0"/>
                <a:cs typeface="Times New Roman" panose="02020603050405020304" pitchFamily="18" charset="0"/>
              </a:rPr>
              <a:t> is the huge open-source library for the computer vision, machine learning, and image processing.</a:t>
            </a:r>
          </a:p>
          <a:p>
            <a:r>
              <a:rPr lang="en-IN" b="0" i="0" dirty="0">
                <a:solidFill>
                  <a:schemeClr val="tx1"/>
                </a:solidFill>
                <a:effectLst/>
                <a:latin typeface="Times New Roman" panose="02020603050405020304" pitchFamily="18" charset="0"/>
                <a:cs typeface="Times New Roman" panose="02020603050405020304" pitchFamily="18" charset="0"/>
              </a:rPr>
              <a:t>It supports multiple languages including python, java C++.</a:t>
            </a:r>
          </a:p>
          <a:p>
            <a:r>
              <a:rPr lang="en-IN" b="0" i="0" dirty="0">
                <a:solidFill>
                  <a:schemeClr val="tx1"/>
                </a:solidFill>
                <a:effectLst/>
                <a:latin typeface="Times New Roman" panose="02020603050405020304" pitchFamily="18" charset="0"/>
                <a:cs typeface="Times New Roman" panose="02020603050405020304" pitchFamily="18" charset="0"/>
              </a:rPr>
              <a:t>Detect specific objects such as faces, eyes, cars, in the videos or images.</a:t>
            </a:r>
          </a:p>
          <a:p>
            <a:endParaRPr lang="en-IN" dirty="0"/>
          </a:p>
        </p:txBody>
      </p:sp>
      <p:sp>
        <p:nvSpPr>
          <p:cNvPr id="4" name="Date Placeholder 3">
            <a:extLst>
              <a:ext uri="{FF2B5EF4-FFF2-40B4-BE49-F238E27FC236}">
                <a16:creationId xmlns:a16="http://schemas.microsoft.com/office/drawing/2014/main" id="{52D3E00E-7342-4CD9-8B85-C73AEB60AE85}"/>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104AB939-FAAD-4031-8947-A4FA00351F93}"/>
              </a:ext>
            </a:extLst>
          </p:cNvPr>
          <p:cNvSpPr>
            <a:spLocks noGrp="1"/>
          </p:cNvSpPr>
          <p:nvPr>
            <p:ph type="ftr" sz="quarter" idx="11"/>
          </p:nvPr>
        </p:nvSpPr>
        <p:spPr/>
        <p:txBody>
          <a:bodyPr/>
          <a:lstStyle/>
          <a:p>
            <a:r>
              <a:rPr lang="en-IN"/>
              <a:t>Dept. of  EEE, ACOE</a:t>
            </a:r>
          </a:p>
        </p:txBody>
      </p:sp>
      <p:pic>
        <p:nvPicPr>
          <p:cNvPr id="6" name="Picture 2" descr="Introduction - OpenCV Tutorial C++">
            <a:extLst>
              <a:ext uri="{FF2B5EF4-FFF2-40B4-BE49-F238E27FC236}">
                <a16:creationId xmlns:a16="http://schemas.microsoft.com/office/drawing/2014/main" id="{B1DA830E-6434-4596-802A-14FBF14F16E8}"/>
              </a:ext>
            </a:extLst>
          </p:cNvPr>
          <p:cNvPicPr>
            <a:picLocks noChangeAspect="1" noChangeArrowheads="1"/>
          </p:cNvPicPr>
          <p:nvPr/>
        </p:nvPicPr>
        <p:blipFill>
          <a:blip r:embed="rId2" cstate="print"/>
          <a:srcRect/>
          <a:stretch>
            <a:fillRect/>
          </a:stretch>
        </p:blipFill>
        <p:spPr bwMode="auto">
          <a:xfrm>
            <a:off x="8686913" y="4127863"/>
            <a:ext cx="1135448" cy="1002803"/>
          </a:xfrm>
          <a:prstGeom prst="rect">
            <a:avLst/>
          </a:prstGeom>
          <a:noFill/>
        </p:spPr>
      </p:pic>
    </p:spTree>
    <p:extLst>
      <p:ext uri="{BB962C8B-B14F-4D97-AF65-F5344CB8AC3E}">
        <p14:creationId xmlns:p14="http://schemas.microsoft.com/office/powerpoint/2010/main" val="749812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8090D-3B1F-4DEC-B9FE-307126C6E289}"/>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Python</a:t>
            </a:r>
          </a:p>
        </p:txBody>
      </p:sp>
      <p:sp>
        <p:nvSpPr>
          <p:cNvPr id="3" name="Content Placeholder 2">
            <a:extLst>
              <a:ext uri="{FF2B5EF4-FFF2-40B4-BE49-F238E27FC236}">
                <a16:creationId xmlns:a16="http://schemas.microsoft.com/office/drawing/2014/main" id="{11E1A645-22F8-4FF2-A195-1BC48F10D50A}"/>
              </a:ext>
            </a:extLst>
          </p:cNvPr>
          <p:cNvSpPr>
            <a:spLocks noGrp="1"/>
          </p:cNvSpPr>
          <p:nvPr>
            <p:ph idx="1"/>
          </p:nvPr>
        </p:nvSpPr>
        <p:spPr/>
        <p:txBody>
          <a:bodyPr/>
          <a:lstStyle/>
          <a:p>
            <a:r>
              <a:rPr lang="en-IN" b="0" i="0" dirty="0">
                <a:solidFill>
                  <a:schemeClr val="tx1"/>
                </a:solidFill>
                <a:effectLst/>
                <a:latin typeface="Times New Roman" panose="02020603050405020304" pitchFamily="18" charset="0"/>
                <a:cs typeface="Times New Roman" panose="02020603050405020304" pitchFamily="18" charset="0"/>
              </a:rPr>
              <a:t>Python is a computer programming language.</a:t>
            </a:r>
            <a:endParaRPr lang="en-IN" i="0" dirty="0">
              <a:solidFill>
                <a:schemeClr val="tx1"/>
              </a:solidFill>
              <a:effectLst/>
              <a:latin typeface="Times New Roman" panose="02020603050405020304" pitchFamily="18" charset="0"/>
              <a:cs typeface="Times New Roman" panose="02020603050405020304" pitchFamily="18" charset="0"/>
            </a:endParaRPr>
          </a:p>
          <a:p>
            <a:r>
              <a:rPr lang="en-IN" i="0" dirty="0">
                <a:solidFill>
                  <a:schemeClr val="tx1"/>
                </a:solidFill>
                <a:effectLst/>
                <a:latin typeface="Times New Roman" panose="02020603050405020304" pitchFamily="18" charset="0"/>
                <a:cs typeface="Times New Roman" panose="02020603050405020304" pitchFamily="18" charset="0"/>
              </a:rPr>
              <a:t>Python</a:t>
            </a:r>
            <a:r>
              <a:rPr lang="en-IN" b="0" i="0" dirty="0">
                <a:solidFill>
                  <a:schemeClr val="tx1"/>
                </a:solidFill>
                <a:effectLst/>
                <a:latin typeface="Times New Roman" panose="02020603050405020304" pitchFamily="18" charset="0"/>
                <a:cs typeface="Times New Roman" panose="02020603050405020304" pitchFamily="18" charset="0"/>
              </a:rPr>
              <a:t> is an interpreted, object-oriented, high-level programming language.</a:t>
            </a:r>
          </a:p>
          <a:p>
            <a:r>
              <a:rPr lang="en-IN" i="0" dirty="0">
                <a:solidFill>
                  <a:schemeClr val="tx1"/>
                </a:solidFill>
                <a:effectLst/>
                <a:latin typeface="Times New Roman" panose="02020603050405020304" pitchFamily="18" charset="0"/>
                <a:cs typeface="Times New Roman" panose="02020603050405020304" pitchFamily="18" charset="0"/>
              </a:rPr>
              <a:t>Python has a simple syntax similar to the English language.</a:t>
            </a:r>
          </a:p>
          <a:p>
            <a:r>
              <a:rPr lang="en-IN" b="0" i="0" dirty="0">
                <a:solidFill>
                  <a:schemeClr val="tx1"/>
                </a:solidFill>
                <a:effectLst/>
                <a:latin typeface="Times New Roman" panose="02020603050405020304" pitchFamily="18" charset="0"/>
                <a:cs typeface="Times New Roman" panose="02020603050405020304" pitchFamily="18" charset="0"/>
              </a:rPr>
              <a:t>Free and Open-Source.</a:t>
            </a:r>
          </a:p>
          <a:p>
            <a:r>
              <a:rPr lang="en-IN" b="0" i="0" dirty="0">
                <a:solidFill>
                  <a:schemeClr val="tx1"/>
                </a:solidFill>
                <a:effectLst/>
                <a:latin typeface="Times New Roman" panose="02020603050405020304" pitchFamily="18" charset="0"/>
                <a:cs typeface="Times New Roman" panose="02020603050405020304" pitchFamily="18" charset="0"/>
              </a:rPr>
              <a:t> It is used in web development, data science, creating software prototypes, and so on.</a:t>
            </a:r>
          </a:p>
          <a:p>
            <a:pPr marL="0" indent="0">
              <a:buNone/>
            </a:pPr>
            <a:r>
              <a:rPr lang="en-IN" b="0" i="0" dirty="0">
                <a:solidFill>
                  <a:srgbClr val="202124"/>
                </a:solidFill>
                <a:effectLst/>
                <a:latin typeface="arial" panose="020B0604020202020204" pitchFamily="34" charset="0"/>
              </a:rPr>
              <a:t> </a:t>
            </a:r>
            <a:endParaRPr lang="en-IN" dirty="0"/>
          </a:p>
        </p:txBody>
      </p:sp>
      <p:sp>
        <p:nvSpPr>
          <p:cNvPr id="4" name="Date Placeholder 3">
            <a:extLst>
              <a:ext uri="{FF2B5EF4-FFF2-40B4-BE49-F238E27FC236}">
                <a16:creationId xmlns:a16="http://schemas.microsoft.com/office/drawing/2014/main" id="{9A7E0D4E-7E1D-4981-8907-407D816DDC2F}"/>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141EB1E0-DF12-4407-A7BD-D3A026CCA9BF}"/>
              </a:ext>
            </a:extLst>
          </p:cNvPr>
          <p:cNvSpPr>
            <a:spLocks noGrp="1"/>
          </p:cNvSpPr>
          <p:nvPr>
            <p:ph type="ftr" sz="quarter" idx="11"/>
          </p:nvPr>
        </p:nvSpPr>
        <p:spPr/>
        <p:txBody>
          <a:bodyPr/>
          <a:lstStyle/>
          <a:p>
            <a:r>
              <a:rPr lang="en-IN"/>
              <a:t>Dept. of  EEE, ACOE</a:t>
            </a:r>
          </a:p>
        </p:txBody>
      </p:sp>
      <p:pic>
        <p:nvPicPr>
          <p:cNvPr id="6" name="Picture 4" descr="Python (programming language) - Wikipedia">
            <a:extLst>
              <a:ext uri="{FF2B5EF4-FFF2-40B4-BE49-F238E27FC236}">
                <a16:creationId xmlns:a16="http://schemas.microsoft.com/office/drawing/2014/main" id="{6FE60BE7-9A4A-4138-A544-42180E3C4C53}"/>
              </a:ext>
            </a:extLst>
          </p:cNvPr>
          <p:cNvPicPr>
            <a:picLocks noChangeAspect="1" noChangeArrowheads="1"/>
          </p:cNvPicPr>
          <p:nvPr/>
        </p:nvPicPr>
        <p:blipFill>
          <a:blip r:embed="rId2" cstate="print"/>
          <a:srcRect/>
          <a:stretch>
            <a:fillRect/>
          </a:stretch>
        </p:blipFill>
        <p:spPr bwMode="auto">
          <a:xfrm>
            <a:off x="9379722" y="3567611"/>
            <a:ext cx="600891" cy="600891"/>
          </a:xfrm>
          <a:prstGeom prst="rect">
            <a:avLst/>
          </a:prstGeom>
          <a:noFill/>
        </p:spPr>
      </p:pic>
    </p:spTree>
    <p:extLst>
      <p:ext uri="{BB962C8B-B14F-4D97-AF65-F5344CB8AC3E}">
        <p14:creationId xmlns:p14="http://schemas.microsoft.com/office/powerpoint/2010/main" val="2640467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US" b="1" dirty="0">
                <a:latin typeface="Cambria Math" panose="02040503050406030204" pitchFamily="18" charset="0"/>
                <a:ea typeface="Cambria Math" panose="02040503050406030204" pitchFamily="18" charset="0"/>
              </a:rPr>
              <a:t>Results</a:t>
            </a:r>
            <a:endParaRPr lang="en-IN" b="1" dirty="0">
              <a:latin typeface="Cambria Math" panose="02040503050406030204" pitchFamily="18" charset="0"/>
              <a:ea typeface="Cambria Math" panose="02040503050406030204" pitchFamily="18" charset="0"/>
            </a:endParaRPr>
          </a:p>
        </p:txBody>
      </p:sp>
      <p:pic>
        <p:nvPicPr>
          <p:cNvPr id="6" name="Content Placeholder 5" descr="WhatsApp Image 2022-03-16 at 20.52.28.jpeg"/>
          <p:cNvPicPr>
            <a:picLocks noGrp="1" noChangeAspect="1"/>
          </p:cNvPicPr>
          <p:nvPr>
            <p:ph idx="1"/>
          </p:nvPr>
        </p:nvPicPr>
        <p:blipFill>
          <a:blip r:embed="rId2"/>
          <a:stretch>
            <a:fillRect/>
          </a:stretch>
        </p:blipFill>
        <p:spPr>
          <a:xfrm>
            <a:off x="3112504" y="2694941"/>
            <a:ext cx="5143222" cy="3416300"/>
          </a:xfrm>
          <a:ln>
            <a:solidFill>
              <a:schemeClr val="accent1"/>
            </a:solidFill>
          </a:ln>
        </p:spPr>
      </p:pic>
      <p:sp>
        <p:nvSpPr>
          <p:cNvPr id="5" name="Date Placeholder 4"/>
          <p:cNvSpPr>
            <a:spLocks noGrp="1"/>
          </p:cNvSpPr>
          <p:nvPr>
            <p:ph type="dt" sz="half" idx="10"/>
          </p:nvPr>
        </p:nvSpPr>
        <p:spPr/>
        <p:txBody>
          <a:bodyPr/>
          <a:lstStyle/>
          <a:p>
            <a:fld id="{2DC42B89-66EB-471E-B2E3-C923700B1131}" type="datetime1">
              <a:rPr lang="en-IN" smtClean="0"/>
              <a:pPr/>
              <a:t>26-05-2022</a:t>
            </a:fld>
            <a:endParaRPr lang="en-IN"/>
          </a:p>
        </p:txBody>
      </p:sp>
      <p:sp>
        <p:nvSpPr>
          <p:cNvPr id="7" name="Footer Placeholder 6"/>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65573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3DF6-4449-467C-8BC6-6B585CD021CF}"/>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Applications</a:t>
            </a:r>
          </a:p>
        </p:txBody>
      </p:sp>
      <p:sp>
        <p:nvSpPr>
          <p:cNvPr id="4" name="Date Placeholder 3">
            <a:extLst>
              <a:ext uri="{FF2B5EF4-FFF2-40B4-BE49-F238E27FC236}">
                <a16:creationId xmlns:a16="http://schemas.microsoft.com/office/drawing/2014/main" id="{728A227D-3AFA-47DC-8808-C8B4559D4E60}"/>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9AB48850-1A32-421C-A06A-6574E83DA187}"/>
              </a:ext>
            </a:extLst>
          </p:cNvPr>
          <p:cNvSpPr>
            <a:spLocks noGrp="1"/>
          </p:cNvSpPr>
          <p:nvPr>
            <p:ph type="ftr" sz="quarter" idx="11"/>
          </p:nvPr>
        </p:nvSpPr>
        <p:spPr/>
        <p:txBody>
          <a:bodyPr/>
          <a:lstStyle/>
          <a:p>
            <a:r>
              <a:rPr lang="en-IN"/>
              <a:t>Dept. of  EEE, ACOE</a:t>
            </a:r>
          </a:p>
        </p:txBody>
      </p:sp>
      <p:pic>
        <p:nvPicPr>
          <p:cNvPr id="6" name="Content Placeholder 4" descr="A picture containing grass, outdoor, garden&#10;&#10;Description automatically generated">
            <a:extLst>
              <a:ext uri="{FF2B5EF4-FFF2-40B4-BE49-F238E27FC236}">
                <a16:creationId xmlns:a16="http://schemas.microsoft.com/office/drawing/2014/main" id="{38D524EE-D4F9-4225-9960-DD4A3C4303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4954" y="2425700"/>
            <a:ext cx="2962275" cy="1543050"/>
          </a:xfrm>
        </p:spPr>
      </p:pic>
      <p:pic>
        <p:nvPicPr>
          <p:cNvPr id="7" name="Picture 6" descr="A picture containing indoor, transport&#10;&#10;Description automatically generated">
            <a:extLst>
              <a:ext uri="{FF2B5EF4-FFF2-40B4-BE49-F238E27FC236}">
                <a16:creationId xmlns:a16="http://schemas.microsoft.com/office/drawing/2014/main" id="{279BBFEB-7AF5-4D53-9B19-1D4B111396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5569" y="3833282"/>
            <a:ext cx="3154363" cy="2051050"/>
          </a:xfrm>
          <a:prstGeom prst="rect">
            <a:avLst/>
          </a:prstGeom>
        </p:spPr>
      </p:pic>
      <p:pic>
        <p:nvPicPr>
          <p:cNvPr id="9" name="Picture 8" descr="A picture containing outdoor, military vehicle, car, transport&#10;&#10;Description automatically generated">
            <a:extLst>
              <a:ext uri="{FF2B5EF4-FFF2-40B4-BE49-F238E27FC236}">
                <a16:creationId xmlns:a16="http://schemas.microsoft.com/office/drawing/2014/main" id="{EF32E0B7-7CC2-413B-9AA6-7750C48165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32245" y="2586037"/>
            <a:ext cx="2765425" cy="2765425"/>
          </a:xfrm>
          <a:prstGeom prst="rect">
            <a:avLst/>
          </a:prstGeom>
        </p:spPr>
      </p:pic>
    </p:spTree>
    <p:extLst>
      <p:ext uri="{BB962C8B-B14F-4D97-AF65-F5344CB8AC3E}">
        <p14:creationId xmlns:p14="http://schemas.microsoft.com/office/powerpoint/2010/main" val="3565708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59BA4-10EF-4D0E-A502-0FC4B0F239F1}"/>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Autonomous Robots in Industry</a:t>
            </a:r>
          </a:p>
        </p:txBody>
      </p:sp>
      <p:sp>
        <p:nvSpPr>
          <p:cNvPr id="4" name="Date Placeholder 3">
            <a:extLst>
              <a:ext uri="{FF2B5EF4-FFF2-40B4-BE49-F238E27FC236}">
                <a16:creationId xmlns:a16="http://schemas.microsoft.com/office/drawing/2014/main" id="{315B7666-C022-48F4-A03A-D702BEC59C3E}"/>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AB27D430-64FC-4F4D-AD9B-889B8008B227}"/>
              </a:ext>
            </a:extLst>
          </p:cNvPr>
          <p:cNvSpPr>
            <a:spLocks noGrp="1"/>
          </p:cNvSpPr>
          <p:nvPr>
            <p:ph type="ftr" sz="quarter" idx="11"/>
          </p:nvPr>
        </p:nvSpPr>
        <p:spPr/>
        <p:txBody>
          <a:bodyPr/>
          <a:lstStyle/>
          <a:p>
            <a:r>
              <a:rPr lang="en-IN"/>
              <a:t>Dept. of  EEE, ACOE</a:t>
            </a:r>
          </a:p>
        </p:txBody>
      </p:sp>
      <p:pic>
        <p:nvPicPr>
          <p:cNvPr id="6" name="Content Placeholder 5">
            <a:extLst>
              <a:ext uri="{FF2B5EF4-FFF2-40B4-BE49-F238E27FC236}">
                <a16:creationId xmlns:a16="http://schemas.microsoft.com/office/drawing/2014/main" id="{56CAC9BE-CAF5-444A-81FA-A8DC2FE70C5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770706" y="3626777"/>
            <a:ext cx="2661006" cy="1775065"/>
          </a:xfrm>
          <a:prstGeom prst="rect">
            <a:avLst/>
          </a:prstGeom>
        </p:spPr>
      </p:pic>
      <p:sp>
        <p:nvSpPr>
          <p:cNvPr id="9" name="TextBox 8">
            <a:extLst>
              <a:ext uri="{FF2B5EF4-FFF2-40B4-BE49-F238E27FC236}">
                <a16:creationId xmlns:a16="http://schemas.microsoft.com/office/drawing/2014/main" id="{13403642-C7F0-4ABA-B2B6-754BE3A668D2}"/>
              </a:ext>
            </a:extLst>
          </p:cNvPr>
          <p:cNvSpPr txBox="1"/>
          <p:nvPr/>
        </p:nvSpPr>
        <p:spPr>
          <a:xfrm>
            <a:off x="760288" y="2619910"/>
            <a:ext cx="7376845" cy="2862322"/>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solidFill>
                  <a:schemeClr val="tx1"/>
                </a:solidFill>
                <a:latin typeface="Times New Roman" panose="02020603050405020304" pitchFamily="18" charset="0"/>
                <a:ea typeface="Cambria Math" pitchFamily="18" charset="0"/>
                <a:cs typeface="Times New Roman" panose="02020603050405020304" pitchFamily="18" charset="0"/>
              </a:rPr>
              <a:t>Flipkart has introduced a robot-based sortation technology — Automated Guided Vehicles (AGVs) at its </a:t>
            </a:r>
            <a:r>
              <a:rPr lang="en-US" dirty="0" err="1">
                <a:solidFill>
                  <a:schemeClr val="tx1"/>
                </a:solidFill>
                <a:latin typeface="Times New Roman" panose="02020603050405020304" pitchFamily="18" charset="0"/>
                <a:ea typeface="Cambria Math" pitchFamily="18" charset="0"/>
                <a:cs typeface="Times New Roman" panose="02020603050405020304" pitchFamily="18" charset="0"/>
              </a:rPr>
              <a:t>Soukya</a:t>
            </a:r>
            <a:r>
              <a:rPr lang="en-US" dirty="0">
                <a:solidFill>
                  <a:schemeClr val="tx1"/>
                </a:solidFill>
                <a:latin typeface="Times New Roman" panose="02020603050405020304" pitchFamily="18" charset="0"/>
                <a:ea typeface="Cambria Math" pitchFamily="18" charset="0"/>
                <a:cs typeface="Times New Roman" panose="02020603050405020304" pitchFamily="18" charset="0"/>
              </a:rPr>
              <a:t> sortation center in Bengaluru.</a:t>
            </a:r>
          </a:p>
          <a:p>
            <a:pPr marL="285750" indent="-285750">
              <a:lnSpc>
                <a:spcPct val="150000"/>
              </a:lnSpc>
              <a:buFont typeface="Wingdings" panose="05000000000000000000" pitchFamily="2" charset="2"/>
              <a:buChar char="Ø"/>
            </a:pPr>
            <a:r>
              <a:rPr lang="en-US" dirty="0">
                <a:solidFill>
                  <a:schemeClr val="tx1"/>
                </a:solidFill>
                <a:latin typeface="Times New Roman" panose="02020603050405020304" pitchFamily="18" charset="0"/>
                <a:ea typeface="Cambria Math" pitchFamily="18" charset="0"/>
                <a:cs typeface="Times New Roman" panose="02020603050405020304" pitchFamily="18" charset="0"/>
              </a:rPr>
              <a:t>AGVs will help Flipkart meet growing customer demand, ensuring faster delivery and a better experience for online shoppers.</a:t>
            </a:r>
          </a:p>
          <a:p>
            <a:pPr marL="285750" indent="-285750">
              <a:lnSpc>
                <a:spcPct val="150000"/>
              </a:lnSpc>
              <a:buFont typeface="Wingdings" panose="05000000000000000000" pitchFamily="2" charset="2"/>
              <a:buChar char="Ø"/>
            </a:pPr>
            <a:r>
              <a:rPr lang="en-US" dirty="0">
                <a:solidFill>
                  <a:schemeClr val="tx1"/>
                </a:solidFill>
                <a:latin typeface="Cambria Math" pitchFamily="18" charset="0"/>
                <a:ea typeface="Cambria Math" pitchFamily="18" charset="0"/>
              </a:rPr>
              <a:t>The </a:t>
            </a:r>
            <a:r>
              <a:rPr lang="en-US" dirty="0" err="1">
                <a:solidFill>
                  <a:schemeClr val="tx1"/>
                </a:solidFill>
                <a:latin typeface="Cambria Math" pitchFamily="18" charset="0"/>
                <a:ea typeface="Cambria Math" pitchFamily="18" charset="0"/>
              </a:rPr>
              <a:t>Soukya</a:t>
            </a:r>
            <a:r>
              <a:rPr lang="en-US" dirty="0">
                <a:solidFill>
                  <a:schemeClr val="tx1"/>
                </a:solidFill>
                <a:latin typeface="Cambria Math" pitchFamily="18" charset="0"/>
                <a:ea typeface="Cambria Math" pitchFamily="18" charset="0"/>
              </a:rPr>
              <a:t> set-up involves over 100 self-guided bots </a:t>
            </a:r>
            <a:endParaRPr lang="en-US" dirty="0">
              <a:solidFill>
                <a:schemeClr val="tx1"/>
              </a:solidFill>
              <a:latin typeface="Times New Roman" panose="02020603050405020304" pitchFamily="18" charset="0"/>
              <a:ea typeface="Cambria Math"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dirty="0">
                <a:solidFill>
                  <a:schemeClr val="tx1"/>
                </a:solidFill>
                <a:latin typeface="Times New Roman" panose="02020603050405020304" pitchFamily="18" charset="0"/>
                <a:ea typeface="Cambria Math" pitchFamily="18" charset="0"/>
                <a:cs typeface="Times New Roman" panose="02020603050405020304" pitchFamily="18" charset="0"/>
              </a:rPr>
              <a:t>It can process up to 4,500 shipments in an hour.</a:t>
            </a:r>
          </a:p>
          <a:p>
            <a:endParaRPr lang="en-IN" dirty="0"/>
          </a:p>
        </p:txBody>
      </p:sp>
    </p:spTree>
    <p:extLst>
      <p:ext uri="{BB962C8B-B14F-4D97-AF65-F5344CB8AC3E}">
        <p14:creationId xmlns:p14="http://schemas.microsoft.com/office/powerpoint/2010/main" val="1551180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US" b="1" dirty="0">
                <a:latin typeface="Cambria Math" panose="02040503050406030204" pitchFamily="18" charset="0"/>
                <a:ea typeface="Cambria Math" panose="02040503050406030204" pitchFamily="18" charset="0"/>
              </a:rPr>
              <a:t>Conclusion</a:t>
            </a:r>
            <a:endParaRPr lang="en-IN" b="1" dirty="0">
              <a:latin typeface="Cambria Math" panose="02040503050406030204" pitchFamily="18" charset="0"/>
              <a:ea typeface="Cambria Math" panose="02040503050406030204" pitchFamily="18" charset="0"/>
            </a:endParaRPr>
          </a:p>
        </p:txBody>
      </p:sp>
      <p:sp>
        <p:nvSpPr>
          <p:cNvPr id="4" name="Content Placeholder 3"/>
          <p:cNvSpPr>
            <a:spLocks noGrp="1"/>
          </p:cNvSpPr>
          <p:nvPr>
            <p:ph idx="1"/>
          </p:nvPr>
        </p:nvSpPr>
        <p:spPr>
          <a:xfrm>
            <a:off x="726142" y="2603500"/>
            <a:ext cx="10865223" cy="3416300"/>
          </a:xfrm>
          <a:ln>
            <a:solidFill>
              <a:schemeClr val="accent1"/>
            </a:solidFill>
          </a:ln>
        </p:spPr>
        <p:txBody>
          <a:bodyPr>
            <a:noAutofit/>
          </a:bodyPr>
          <a:lstStyle/>
          <a:p>
            <a:pPr algn="just">
              <a:lnSpc>
                <a:spcPct val="200000"/>
              </a:lnSpc>
            </a:pPr>
            <a:r>
              <a:rPr lang="en-US" dirty="0">
                <a:solidFill>
                  <a:schemeClr val="tx1"/>
                </a:solidFill>
                <a:latin typeface="Cambria Math" pitchFamily="18" charset="0"/>
                <a:ea typeface="Cambria Math" pitchFamily="18" charset="0"/>
              </a:rPr>
              <a:t>Robots are useful in many ways. For instance, it boosts economy because businesses need to be efficient to keep up with the industry competition. </a:t>
            </a:r>
          </a:p>
          <a:p>
            <a:pPr algn="just">
              <a:lnSpc>
                <a:spcPct val="200000"/>
              </a:lnSpc>
            </a:pPr>
            <a:r>
              <a:rPr lang="en-US" dirty="0">
                <a:solidFill>
                  <a:schemeClr val="tx1"/>
                </a:solidFill>
                <a:latin typeface="Cambria Math" pitchFamily="18" charset="0"/>
                <a:ea typeface="Cambria Math" pitchFamily="18" charset="0"/>
              </a:rPr>
              <a:t>Therefore, having robots helps business owners to be competitive, because robots can do jobs better and faster than humans can, e.g. robot can built, assemble a car.</a:t>
            </a:r>
          </a:p>
          <a:p>
            <a:pPr algn="just">
              <a:lnSpc>
                <a:spcPct val="200000"/>
              </a:lnSpc>
            </a:pPr>
            <a:endParaRPr lang="en-IN" sz="2800" dirty="0">
              <a:latin typeface="Cambria Math" panose="02040503050406030204" pitchFamily="18" charset="0"/>
              <a:ea typeface="Cambria Math" panose="02040503050406030204" pitchFamily="18" charset="0"/>
            </a:endParaRPr>
          </a:p>
        </p:txBody>
      </p:sp>
      <p:sp>
        <p:nvSpPr>
          <p:cNvPr id="5" name="Date Placeholder 4"/>
          <p:cNvSpPr>
            <a:spLocks noGrp="1"/>
          </p:cNvSpPr>
          <p:nvPr>
            <p:ph type="dt" sz="half" idx="10"/>
          </p:nvPr>
        </p:nvSpPr>
        <p:spPr/>
        <p:txBody>
          <a:bodyPr/>
          <a:lstStyle/>
          <a:p>
            <a:fld id="{90B13215-678A-44C4-B02D-23FB7EF811AC}" type="datetime1">
              <a:rPr lang="en-IN" smtClean="0"/>
              <a:pPr/>
              <a:t>26-05-2022</a:t>
            </a:fld>
            <a:endParaRPr lang="en-IN"/>
          </a:p>
        </p:txBody>
      </p:sp>
      <p:sp>
        <p:nvSpPr>
          <p:cNvPr id="7" name="Footer Placeholder 6"/>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65573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1E702-412B-4FBA-81AE-F883098B5D20}"/>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C6AEC929-C0FB-40EA-879A-2A08C497733F}"/>
              </a:ext>
            </a:extLst>
          </p:cNvPr>
          <p:cNvSpPr>
            <a:spLocks noGrp="1"/>
          </p:cNvSpPr>
          <p:nvPr>
            <p:ph idx="1"/>
          </p:nvPr>
        </p:nvSpPr>
        <p:spPr/>
        <p:txBody>
          <a:bodyPr/>
          <a:lstStyle/>
          <a:p>
            <a:pPr>
              <a:lnSpc>
                <a:spcPct val="150000"/>
              </a:lnSpc>
            </a:pPr>
            <a:r>
              <a:rPr lang="en-IN" dirty="0">
                <a:solidFill>
                  <a:srgbClr val="423B43"/>
                </a:solidFill>
                <a:latin typeface="Times New Roman" panose="02020603050405020304" pitchFamily="18" charset="0"/>
                <a:cs typeface="Times New Roman" panose="02020603050405020304" pitchFamily="18" charset="0"/>
              </a:rPr>
              <a:t>R</a:t>
            </a:r>
            <a:r>
              <a:rPr lang="en-IN" b="0" i="0" dirty="0">
                <a:solidFill>
                  <a:srgbClr val="423B43"/>
                </a:solidFill>
                <a:effectLst/>
                <a:latin typeface="Times New Roman" panose="02020603050405020304" pitchFamily="18" charset="0"/>
                <a:cs typeface="Times New Roman" panose="02020603050405020304" pitchFamily="18" charset="0"/>
              </a:rPr>
              <a:t>eports suggest that the stock of robots worldwide could reach 20 million by 2030.</a:t>
            </a:r>
          </a:p>
          <a:p>
            <a:pPr>
              <a:lnSpc>
                <a:spcPct val="150000"/>
              </a:lnSpc>
            </a:pPr>
            <a:r>
              <a:rPr lang="en-IN" b="0" i="0" dirty="0">
                <a:solidFill>
                  <a:srgbClr val="423B43"/>
                </a:solidFill>
                <a:effectLst/>
                <a:latin typeface="Times New Roman" panose="02020603050405020304" pitchFamily="18" charset="0"/>
                <a:cs typeface="Times New Roman" panose="02020603050405020304" pitchFamily="18" charset="0"/>
              </a:rPr>
              <a:t>Robotics may also shape the future of medicine.</a:t>
            </a:r>
            <a:endParaRPr lang="en-IN" dirty="0">
              <a:solidFill>
                <a:srgbClr val="423B43"/>
              </a:solidFill>
              <a:latin typeface="Times New Roman" panose="02020603050405020304" pitchFamily="18" charset="0"/>
              <a:cs typeface="Times New Roman" panose="02020603050405020304" pitchFamily="18" charset="0"/>
            </a:endParaRPr>
          </a:p>
          <a:p>
            <a:pPr>
              <a:lnSpc>
                <a:spcPct val="150000"/>
              </a:lnSpc>
            </a:pPr>
            <a:r>
              <a:rPr lang="en-IN" b="0" i="0" dirty="0">
                <a:solidFill>
                  <a:srgbClr val="423B43"/>
                </a:solidFill>
                <a:effectLst/>
                <a:latin typeface="Times New Roman" panose="02020603050405020304" pitchFamily="18" charset="0"/>
                <a:cs typeface="Times New Roman" panose="02020603050405020304" pitchFamily="18" charset="0"/>
              </a:rPr>
              <a:t>Surgical robots can perform extremely precise operations, and with advances in AI, could eventually carry out surgeries independently. </a:t>
            </a:r>
          </a:p>
          <a:p>
            <a:pPr>
              <a:lnSpc>
                <a:spcPct val="150000"/>
              </a:lnSpc>
            </a:pPr>
            <a:r>
              <a:rPr lang="en-IN" b="0" i="0" dirty="0">
                <a:latin typeface="Times New Roman" panose="02020603050405020304" pitchFamily="18" charset="0"/>
                <a:cs typeface="Times New Roman" panose="02020603050405020304" pitchFamily="18" charset="0"/>
              </a:rPr>
              <a:t>It is assured that significant development in this field will occur in another 5-10 years.</a:t>
            </a:r>
            <a:endParaRPr lang="en-US"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8A08D956-5EA9-4A27-8C66-3C813DDEF536}"/>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D4E747B7-AA26-4669-8791-E70D88A853A3}"/>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10786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A4B70-C415-44FD-AE3E-8E0C415DE490}"/>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0BF63C73-2369-499E-95CF-BDA9FAC9922D}"/>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[1] J. Warren, J. Adams and H. </a:t>
            </a:r>
            <a:r>
              <a:rPr lang="en-IN" dirty="0" err="1">
                <a:latin typeface="Times New Roman" panose="02020603050405020304" pitchFamily="18" charset="0"/>
                <a:cs typeface="Times New Roman" panose="02020603050405020304" pitchFamily="18" charset="0"/>
              </a:rPr>
              <a:t>Molle</a:t>
            </a:r>
            <a:r>
              <a:rPr lang="en-IN" dirty="0">
                <a:latin typeface="Times New Roman" panose="02020603050405020304" pitchFamily="18" charset="0"/>
                <a:cs typeface="Times New Roman" panose="02020603050405020304" pitchFamily="18" charset="0"/>
              </a:rPr>
              <a:t>, "Arduino for Robotics," in Arduino Robotics, New York, </a:t>
            </a:r>
            <a:r>
              <a:rPr lang="en-IN" dirty="0" err="1">
                <a:latin typeface="Times New Roman" panose="02020603050405020304" pitchFamily="18" charset="0"/>
                <a:cs typeface="Times New Roman" panose="02020603050405020304" pitchFamily="18" charset="0"/>
              </a:rPr>
              <a:t>Apress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publiction</a:t>
            </a:r>
            <a:r>
              <a:rPr lang="en-IN" dirty="0">
                <a:latin typeface="Times New Roman" panose="02020603050405020304" pitchFamily="18" charset="0"/>
                <a:cs typeface="Times New Roman" panose="02020603050405020304" pitchFamily="18" charset="0"/>
              </a:rPr>
              <a:t>, 2014, pp. 51-83. </a:t>
            </a:r>
          </a:p>
          <a:p>
            <a:r>
              <a:rPr lang="en-IN" dirty="0">
                <a:latin typeface="Times New Roman" panose="02020603050405020304" pitchFamily="18" charset="0"/>
                <a:cs typeface="Times New Roman" panose="02020603050405020304" pitchFamily="18" charset="0"/>
              </a:rPr>
              <a:t>[2] Jim, "PWM/PID/Servo Motor Control," 2005. [Online]. Available: http://www.uoxray uoregon.edu. [Accessed 15 December 2015]. </a:t>
            </a:r>
          </a:p>
          <a:p>
            <a:r>
              <a:rPr lang="en-IN" dirty="0">
                <a:latin typeface="Times New Roman" panose="02020603050405020304" pitchFamily="18" charset="0"/>
                <a:cs typeface="Times New Roman" panose="02020603050405020304" pitchFamily="18" charset="0"/>
              </a:rPr>
              <a:t>[3] </a:t>
            </a:r>
            <a:r>
              <a:rPr lang="en-IN" dirty="0" err="1">
                <a:latin typeface="Times New Roman" panose="02020603050405020304" pitchFamily="18" charset="0"/>
                <a:cs typeface="Times New Roman" panose="02020603050405020304" pitchFamily="18" charset="0"/>
              </a:rPr>
              <a:t>Komonya</a:t>
            </a:r>
            <a:r>
              <a:rPr lang="en-IN" dirty="0">
                <a:latin typeface="Times New Roman" panose="02020603050405020304" pitchFamily="18" charset="0"/>
                <a:cs typeface="Times New Roman" panose="02020603050405020304" pitchFamily="18" charset="0"/>
              </a:rPr>
              <a:t>, S. Tachi, K. </a:t>
            </a:r>
            <a:r>
              <a:rPr lang="en-IN" dirty="0" err="1">
                <a:latin typeface="Times New Roman" panose="02020603050405020304" pitchFamily="18" charset="0"/>
                <a:cs typeface="Times New Roman" panose="02020603050405020304" pitchFamily="18" charset="0"/>
              </a:rPr>
              <a:t>Tanie</a:t>
            </a:r>
            <a:r>
              <a:rPr lang="en-IN" dirty="0">
                <a:latin typeface="Times New Roman" panose="02020603050405020304" pitchFamily="18" charset="0"/>
                <a:cs typeface="Times New Roman" panose="02020603050405020304" pitchFamily="18" charset="0"/>
              </a:rPr>
              <a:t>, "A Method for Autonomous Locomotion of .Mobile </a:t>
            </a:r>
            <a:r>
              <a:rPr lang="en-IN" dirty="0" err="1">
                <a:latin typeface="Times New Roman" panose="02020603050405020304" pitchFamily="18" charset="0"/>
                <a:cs typeface="Times New Roman" panose="02020603050405020304" pitchFamily="18" charset="0"/>
              </a:rPr>
              <a:t>Robots,''in</a:t>
            </a:r>
            <a:r>
              <a:rPr lang="en-IN" dirty="0">
                <a:latin typeface="Times New Roman" panose="02020603050405020304" pitchFamily="18" charset="0"/>
                <a:cs typeface="Times New Roman" panose="02020603050405020304" pitchFamily="18" charset="0"/>
              </a:rPr>
              <a:t> Journal of Robotics Society of Japan, vol. 2, pp.222-231, 1984. </a:t>
            </a:r>
          </a:p>
        </p:txBody>
      </p:sp>
      <p:sp>
        <p:nvSpPr>
          <p:cNvPr id="4" name="Date Placeholder 3">
            <a:extLst>
              <a:ext uri="{FF2B5EF4-FFF2-40B4-BE49-F238E27FC236}">
                <a16:creationId xmlns:a16="http://schemas.microsoft.com/office/drawing/2014/main" id="{95D74616-19AD-4A47-9483-F219E4431432}"/>
              </a:ext>
            </a:extLst>
          </p:cNvPr>
          <p:cNvSpPr>
            <a:spLocks noGrp="1"/>
          </p:cNvSpPr>
          <p:nvPr>
            <p:ph type="dt" sz="half" idx="10"/>
          </p:nvPr>
        </p:nvSpPr>
        <p:spPr/>
        <p:txBody>
          <a:bodyPr/>
          <a:lstStyle/>
          <a:p>
            <a:fld id="{8B4522AF-BFF1-4162-BF94-3A76AEE64A8D}" type="datetime1">
              <a:rPr lang="en-IN" smtClean="0"/>
              <a:pPr/>
              <a:t>26-05-2022</a:t>
            </a:fld>
            <a:endParaRPr lang="en-IN"/>
          </a:p>
        </p:txBody>
      </p:sp>
      <p:sp>
        <p:nvSpPr>
          <p:cNvPr id="5" name="Footer Placeholder 4">
            <a:extLst>
              <a:ext uri="{FF2B5EF4-FFF2-40B4-BE49-F238E27FC236}">
                <a16:creationId xmlns:a16="http://schemas.microsoft.com/office/drawing/2014/main" id="{3ED70436-38E4-43E9-9F57-969181269D36}"/>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8239948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1518</TotalTime>
  <Words>1346</Words>
  <Application>Microsoft Office PowerPoint</Application>
  <PresentationFormat>Widescreen</PresentationFormat>
  <Paragraphs>156</Paragraphs>
  <Slides>23</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Arial</vt:lpstr>
      <vt:lpstr>Bookman Old Style</vt:lpstr>
      <vt:lpstr>Calibri</vt:lpstr>
      <vt:lpstr>Cambria Math</vt:lpstr>
      <vt:lpstr>Century Gothic</vt:lpstr>
      <vt:lpstr>Times New Roman</vt:lpstr>
      <vt:lpstr>Wingdings</vt:lpstr>
      <vt:lpstr>Wingdings 3</vt:lpstr>
      <vt:lpstr>Ion Boardroom</vt:lpstr>
      <vt:lpstr>ENHANCED AUTONOMOUS ROBOT WITH CENTRAL NAVIGATION SYSTEM</vt:lpstr>
      <vt:lpstr>Outline of Presentation</vt:lpstr>
      <vt:lpstr>Outline of Presentation</vt:lpstr>
      <vt:lpstr> Abstract </vt:lpstr>
      <vt:lpstr>Introduction</vt:lpstr>
      <vt:lpstr>Literature Survey</vt:lpstr>
      <vt:lpstr>Problem Formulation</vt:lpstr>
      <vt:lpstr>Block Diagram</vt:lpstr>
      <vt:lpstr>Our Components In Project</vt:lpstr>
      <vt:lpstr>Servo Motor</vt:lpstr>
      <vt:lpstr>Motor Driver Shield</vt:lpstr>
      <vt:lpstr>Rechargeable Battery</vt:lpstr>
      <vt:lpstr>Micro Gear Motor</vt:lpstr>
      <vt:lpstr>Camera Setup and Robots</vt:lpstr>
      <vt:lpstr>Working </vt:lpstr>
      <vt:lpstr>Open CV</vt:lpstr>
      <vt:lpstr>Python</vt:lpstr>
      <vt:lpstr>Results</vt:lpstr>
      <vt:lpstr>Applications</vt:lpstr>
      <vt:lpstr>Autonomous Robots in Industry</vt:lpstr>
      <vt:lpstr>Conclusion</vt:lpstr>
      <vt:lpstr>Future Scope</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Flower pollination Algorithm for solving combined economic emission dispatch problem</dc:title>
  <dc:creator>VENKATA RAJARAM</dc:creator>
  <cp:lastModifiedBy>Tumpala, Neelima</cp:lastModifiedBy>
  <cp:revision>151</cp:revision>
  <dcterms:created xsi:type="dcterms:W3CDTF">2019-01-23T13:32:16Z</dcterms:created>
  <dcterms:modified xsi:type="dcterms:W3CDTF">2022-05-26T17:13:51Z</dcterms:modified>
</cp:coreProperties>
</file>